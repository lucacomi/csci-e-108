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73"/>
  </p:notesMasterIdLst>
  <p:sldIdLst>
    <p:sldId id="275" r:id="rId3"/>
    <p:sldId id="603" r:id="rId4"/>
    <p:sldId id="627" r:id="rId5"/>
    <p:sldId id="605" r:id="rId6"/>
    <p:sldId id="710" r:id="rId7"/>
    <p:sldId id="712" r:id="rId8"/>
    <p:sldId id="705" r:id="rId9"/>
    <p:sldId id="606" r:id="rId10"/>
    <p:sldId id="626" r:id="rId11"/>
    <p:sldId id="639" r:id="rId12"/>
    <p:sldId id="713" r:id="rId13"/>
    <p:sldId id="619" r:id="rId14"/>
    <p:sldId id="706" r:id="rId15"/>
    <p:sldId id="620" r:id="rId16"/>
    <p:sldId id="621" r:id="rId17"/>
    <p:sldId id="670" r:id="rId18"/>
    <p:sldId id="686" r:id="rId19"/>
    <p:sldId id="622" r:id="rId20"/>
    <p:sldId id="623" r:id="rId21"/>
    <p:sldId id="750" r:id="rId22"/>
    <p:sldId id="667" r:id="rId23"/>
    <p:sldId id="751" r:id="rId24"/>
    <p:sldId id="714" r:id="rId25"/>
    <p:sldId id="637" r:id="rId26"/>
    <p:sldId id="638" r:id="rId27"/>
    <p:sldId id="640" r:id="rId28"/>
    <p:sldId id="630" r:id="rId29"/>
    <p:sldId id="625" r:id="rId30"/>
    <p:sldId id="628" r:id="rId31"/>
    <p:sldId id="629" r:id="rId32"/>
    <p:sldId id="767" r:id="rId33"/>
    <p:sldId id="668" r:id="rId34"/>
    <p:sldId id="765" r:id="rId35"/>
    <p:sldId id="766" r:id="rId36"/>
    <p:sldId id="764" r:id="rId37"/>
    <p:sldId id="631" r:id="rId38"/>
    <p:sldId id="722" r:id="rId39"/>
    <p:sldId id="723" r:id="rId40"/>
    <p:sldId id="724" r:id="rId41"/>
    <p:sldId id="725" r:id="rId42"/>
    <p:sldId id="726" r:id="rId43"/>
    <p:sldId id="728" r:id="rId44"/>
    <p:sldId id="721" r:id="rId45"/>
    <p:sldId id="644" r:id="rId46"/>
    <p:sldId id="689" r:id="rId47"/>
    <p:sldId id="715" r:id="rId48"/>
    <p:sldId id="719" r:id="rId49"/>
    <p:sldId id="768" r:id="rId50"/>
    <p:sldId id="688" r:id="rId51"/>
    <p:sldId id="645" r:id="rId52"/>
    <p:sldId id="707" r:id="rId53"/>
    <p:sldId id="756" r:id="rId54"/>
    <p:sldId id="708" r:id="rId55"/>
    <p:sldId id="758" r:id="rId56"/>
    <p:sldId id="709" r:id="rId57"/>
    <p:sldId id="736" r:id="rId58"/>
    <p:sldId id="757" r:id="rId59"/>
    <p:sldId id="762" r:id="rId60"/>
    <p:sldId id="687" r:id="rId61"/>
    <p:sldId id="659" r:id="rId62"/>
    <p:sldId id="729" r:id="rId63"/>
    <p:sldId id="684" r:id="rId64"/>
    <p:sldId id="685" r:id="rId65"/>
    <p:sldId id="755" r:id="rId66"/>
    <p:sldId id="720" r:id="rId67"/>
    <p:sldId id="734" r:id="rId68"/>
    <p:sldId id="662" r:id="rId69"/>
    <p:sldId id="663" r:id="rId70"/>
    <p:sldId id="665" r:id="rId71"/>
    <p:sldId id="669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94" autoAdjust="0"/>
    <p:restoredTop sz="94660"/>
  </p:normalViewPr>
  <p:slideViewPr>
    <p:cSldViewPr snapToGrid="0">
      <p:cViewPr varScale="1">
        <p:scale>
          <a:sx n="67" d="100"/>
          <a:sy n="67" d="100"/>
        </p:scale>
        <p:origin x="43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39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5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0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13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55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21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4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12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95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99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6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43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89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92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59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5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8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59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68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5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69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005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80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034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053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F5B0-324F-A002-6F9F-29F8F94E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E2EA3-251C-9859-B416-47F58F1DF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795CE-F794-911B-C998-2319DEC6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9DDB1-D123-9E52-03BF-2BED0FBDF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0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948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7BD3-A250-176A-67C8-7065934B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A9307-1887-855F-2C77-3DC115E5E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62190-6853-5915-21BF-679D26123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400B3-0FB9-C68E-C27A-79C804E7F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619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49F2-B5E6-5C1B-146A-9F55C876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EF0B7-E648-402E-4468-65EE82E6A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1BFDE-45C3-4D59-4310-C63B90D9F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E4DA9-364F-F918-ABF3-F89C9F235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59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6A89-6EB4-C39D-BC23-9F0F0E22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23D57-76A0-C130-76C5-FEAB8A8CB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DB17B-9438-3011-7427-3BA574595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497FF-DC61-5582-44DA-3B0210E0B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98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319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182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885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24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56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331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27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551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63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CCD1-FD6A-1A2D-9B95-5817459F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DB21-323B-A4C7-27A7-EEAF98692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AB8C2-B903-C344-A560-B63C3E093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93356-B904-80B5-CD58-86E07600C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790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457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23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536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034B-80A1-C357-4CE3-325785EE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5D953-45C6-878B-AD37-503BE6B5D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A831B-C170-E085-326C-BD676C02B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1365-2E72-F815-AA0A-6972B4D6E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529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610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E473-A817-AB60-7AF3-FF66C004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9C60E-E583-4B96-2CCE-1644BFA2C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307BB-1A24-7D3C-8B20-BD17C568D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41E0A-C348-2515-A731-25B01DE57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92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110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516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682E-75B8-B0ED-179E-43CE4D75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5F31F-508C-B048-B4DD-A4288A62A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6BEED-2324-447C-7267-B9DE59D54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6DB6D-618D-F954-DE76-4D70D5788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546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157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808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654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702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54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4A07-E6C7-3064-6DFE-8D020E91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FF5CD-550F-A9A0-F453-6E7456635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C9F5F-C8DC-5B7C-7E3D-FE6206911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47FD0-96B6-A1E3-6649-23CAD493E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583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407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643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03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130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21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#calinski-harabasz-index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hyperlink" Target="https://scikit-learn.org/stable/modules/generated/sklearn.metrics.davies_bouldin_score.htm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DistanceMetric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ngle-linkage_clustering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0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lete-linkage_clustering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0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generated/scipy.cluster.hierarchy.linkage.html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ard%27s_method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037" y="983276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to Clustering Models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581" y="4041385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2020,2021, 2022, 2023</a:t>
            </a:r>
            <a:r>
              <a:rPr lang="en-US" sz="1100"/>
              <a:t>, 2024, 2025, </a:t>
            </a:r>
            <a:r>
              <a:rPr lang="en-US" sz="1100" dirty="0"/>
              <a:t>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Supervised vs. unsupervised learning</a:t>
                </a:r>
              </a:p>
              <a:p>
                <a:r>
                  <a:rPr lang="en-US" dirty="0">
                    <a:latin typeface="+mn-lt"/>
                  </a:rPr>
                  <a:t>Many ML algorithms fall in the domain of </a:t>
                </a:r>
                <a:r>
                  <a:rPr lang="en-US" b="1" dirty="0">
                    <a:latin typeface="+mn-lt"/>
                  </a:rPr>
                  <a:t>supervised machine learning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Training, evaluation and test </a:t>
                </a:r>
                <a:r>
                  <a:rPr lang="en-US" sz="2800" b="1" dirty="0">
                    <a:latin typeface="+mn-lt"/>
                  </a:rPr>
                  <a:t>cases are labeled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Data contain features, </a:t>
                </a:r>
                <a:r>
                  <a:rPr lang="en-US" sz="2800" i="1" dirty="0">
                    <a:latin typeface="+mn-lt"/>
                  </a:rPr>
                  <a:t>X</a:t>
                </a:r>
                <a:r>
                  <a:rPr lang="en-US" sz="2800" dirty="0">
                    <a:latin typeface="+mn-lt"/>
                  </a:rPr>
                  <a:t>, and labels, </a:t>
                </a:r>
                <a:r>
                  <a:rPr lang="en-US" sz="2800" i="1" dirty="0">
                    <a:latin typeface="+mn-lt"/>
                  </a:rPr>
                  <a:t>y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The </a:t>
                </a:r>
                <a:r>
                  <a:rPr lang="en-US" sz="2800" b="1" dirty="0">
                    <a:latin typeface="+mn-lt"/>
                  </a:rPr>
                  <a:t>model learns a function approximation </a:t>
                </a:r>
                <a:r>
                  <a:rPr lang="en-US" sz="2800" dirty="0">
                    <a:latin typeface="+mn-lt"/>
                  </a:rPr>
                  <a:t>using the labeled cases: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lvl="1"/>
                <a:r>
                  <a:rPr lang="en-US" sz="2800" dirty="0">
                    <a:latin typeface="+mn-lt"/>
                  </a:rPr>
                  <a:t>We say the model is trained by a </a:t>
                </a:r>
                <a:r>
                  <a:rPr lang="en-US" sz="2800" b="1" dirty="0">
                    <a:latin typeface="+mn-lt"/>
                  </a:rPr>
                  <a:t>supervisor</a:t>
                </a:r>
              </a:p>
              <a:p>
                <a:r>
                  <a:rPr lang="en-US" dirty="0">
                    <a:latin typeface="+mn-lt"/>
                  </a:rPr>
                  <a:t>Can we always expect to have labeled cases? </a:t>
                </a:r>
              </a:p>
              <a:p>
                <a:r>
                  <a:rPr lang="en-US" sz="2800" b="1" dirty="0">
                    <a:solidFill>
                      <a:srgbClr val="C00000"/>
                    </a:solidFill>
                    <a:latin typeface="+mn-lt"/>
                  </a:rPr>
                  <a:t>No!</a:t>
                </a:r>
              </a:p>
              <a:p>
                <a:r>
                  <a:rPr lang="en-US" dirty="0">
                    <a:latin typeface="+mn-lt"/>
                  </a:rPr>
                  <a:t>Most data is not labeled</a:t>
                </a:r>
              </a:p>
              <a:p>
                <a:r>
                  <a:rPr lang="en-US" sz="2800" dirty="0">
                    <a:latin typeface="+mn-lt"/>
                  </a:rPr>
                  <a:t>What can be learned from </a:t>
                </a:r>
                <a:r>
                  <a:rPr lang="en-US" sz="2800" b="1" dirty="0">
                    <a:latin typeface="+mn-lt"/>
                  </a:rPr>
                  <a:t>unlabeled data</a:t>
                </a:r>
                <a:r>
                  <a:rPr lang="en-US" sz="2800" dirty="0">
                    <a:latin typeface="+mn-lt"/>
                  </a:rPr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  <a:blipFill>
                <a:blip r:embed="rId3"/>
                <a:stretch>
                  <a:fillRect l="-1111" t="-2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Why should we care about unsupervised learning?</a:t>
            </a:r>
          </a:p>
          <a:p>
            <a:r>
              <a:rPr lang="en-US" dirty="0">
                <a:latin typeface="+mn-lt"/>
              </a:rPr>
              <a:t>Most data is not labeled</a:t>
            </a:r>
          </a:p>
          <a:p>
            <a:r>
              <a:rPr lang="en-US" sz="2800" dirty="0">
                <a:latin typeface="+mn-lt"/>
              </a:rPr>
              <a:t>Learning relationships in data is useful in many data mining solutions:</a:t>
            </a:r>
          </a:p>
          <a:p>
            <a:pPr lvl="1"/>
            <a:r>
              <a:rPr lang="en-US" sz="2800" dirty="0">
                <a:latin typeface="+mn-lt"/>
              </a:rPr>
              <a:t>Discover unusual or outlier events</a:t>
            </a:r>
          </a:p>
          <a:p>
            <a:pPr lvl="1"/>
            <a:r>
              <a:rPr lang="en-US" sz="2800" dirty="0">
                <a:latin typeface="+mn-lt"/>
              </a:rPr>
              <a:t>Similar genes in </a:t>
            </a:r>
            <a:r>
              <a:rPr lang="en-US" sz="2800" dirty="0" err="1">
                <a:latin typeface="+mn-lt"/>
              </a:rPr>
              <a:t>microassay</a:t>
            </a:r>
            <a:r>
              <a:rPr lang="en-US" sz="2800" dirty="0">
                <a:latin typeface="+mn-lt"/>
              </a:rPr>
              <a:t> data</a:t>
            </a:r>
          </a:p>
          <a:p>
            <a:pPr lvl="1"/>
            <a:r>
              <a:rPr lang="en-US" sz="2800" dirty="0">
                <a:latin typeface="+mn-lt"/>
              </a:rPr>
              <a:t>Group similar products</a:t>
            </a:r>
          </a:p>
          <a:p>
            <a:pPr lvl="1"/>
            <a:r>
              <a:rPr lang="en-US" sz="2800" dirty="0">
                <a:latin typeface="+mn-lt"/>
              </a:rPr>
              <a:t>Find groups of people with similar behaviors – e.g. voting, purchasers, products,…</a:t>
            </a:r>
          </a:p>
          <a:p>
            <a:pPr lvl="1"/>
            <a:r>
              <a:rPr lang="en-US" sz="2800" dirty="0">
                <a:latin typeface="+mn-lt"/>
              </a:rPr>
              <a:t>Find patients with related symptoms</a:t>
            </a:r>
          </a:p>
          <a:p>
            <a:pPr lvl="1"/>
            <a:r>
              <a:rPr lang="en-US" sz="2800" dirty="0">
                <a:latin typeface="+mn-lt"/>
              </a:rPr>
              <a:t>Data compression algorithms</a:t>
            </a:r>
          </a:p>
          <a:p>
            <a:pPr lvl="1"/>
            <a:r>
              <a:rPr lang="en-US" sz="2800" dirty="0">
                <a:latin typeface="+mn-lt"/>
              </a:rPr>
              <a:t>And many more...</a:t>
            </a:r>
          </a:p>
          <a:p>
            <a:pPr lvl="1"/>
            <a:endParaRPr lang="en-US" sz="2800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types of unsupervised learning algorithms</a:t>
            </a:r>
          </a:p>
          <a:p>
            <a:r>
              <a:rPr lang="en-US" dirty="0">
                <a:latin typeface="+mn-lt"/>
              </a:rPr>
              <a:t>Clustering models – today’s topic</a:t>
            </a:r>
          </a:p>
          <a:p>
            <a:r>
              <a:rPr lang="en-US" dirty="0">
                <a:latin typeface="+mn-lt"/>
              </a:rPr>
              <a:t>Embedding models – PCA, manifold embedding,… - future lesson</a:t>
            </a:r>
          </a:p>
          <a:p>
            <a:r>
              <a:rPr lang="en-US" dirty="0">
                <a:latin typeface="+mn-lt"/>
              </a:rPr>
              <a:t>Similarity search - Recommender models, document search, image search, …</a:t>
            </a:r>
          </a:p>
          <a:p>
            <a:r>
              <a:rPr lang="en-US" dirty="0">
                <a:latin typeface="+mn-lt"/>
              </a:rPr>
              <a:t>Social network models</a:t>
            </a:r>
          </a:p>
          <a:p>
            <a:r>
              <a:rPr lang="en-US" dirty="0">
                <a:latin typeface="+mn-lt"/>
              </a:rPr>
              <a:t>Association models – e.g. market basket analysis – future lesson</a:t>
            </a:r>
          </a:p>
          <a:p>
            <a:r>
              <a:rPr lang="en-US" dirty="0">
                <a:latin typeface="+mn-lt"/>
              </a:rPr>
              <a:t>And many more…………</a:t>
            </a:r>
          </a:p>
          <a:p>
            <a:r>
              <a:rPr lang="en-US" dirty="0">
                <a:latin typeface="+mn-lt"/>
              </a:rPr>
              <a:t>All methods depend on measures of distance or similarity  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3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/>
              <a:t>Overview, Unsupervised </a:t>
            </a:r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Cluster models are a form of </a:t>
            </a:r>
            <a:r>
              <a:rPr lang="en-US" b="1" dirty="0">
                <a:latin typeface="+mn-lt"/>
              </a:rPr>
              <a:t>similarity search  </a:t>
            </a: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Wish to find related or similar groups or associations that help us understand complex relationships in data</a:t>
            </a:r>
          </a:p>
          <a:p>
            <a:r>
              <a:rPr lang="en-US" dirty="0">
                <a:latin typeface="+mn-lt"/>
              </a:rPr>
              <a:t>Cluster models create </a:t>
            </a:r>
            <a:r>
              <a:rPr lang="en-US" b="1" dirty="0">
                <a:latin typeface="+mn-lt"/>
              </a:rPr>
              <a:t>embeddings 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Embed a high-dimensional feature space in a low dimensional space   </a:t>
            </a:r>
          </a:p>
          <a:p>
            <a:pPr lvl="1"/>
            <a:r>
              <a:rPr lang="en-US" dirty="0">
                <a:latin typeface="+mn-lt"/>
              </a:rPr>
              <a:t>Cluster assignments are a </a:t>
            </a:r>
            <a:r>
              <a:rPr lang="en-US" b="1" dirty="0">
                <a:latin typeface="+mn-lt"/>
              </a:rPr>
              <a:t>low-dimensional embedding</a:t>
            </a:r>
          </a:p>
          <a:p>
            <a:pPr lvl="1"/>
            <a:r>
              <a:rPr lang="en-US" dirty="0">
                <a:latin typeface="+mn-lt"/>
              </a:rPr>
              <a:t>Embeddings can greatly enhance understanding of relationships in data</a:t>
            </a: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Common Properties of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8822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Can </a:t>
            </a:r>
            <a:r>
              <a:rPr lang="en-US" b="1" dirty="0">
                <a:latin typeface="+mn-lt"/>
              </a:rPr>
              <a:t>learn relationships or structure between variables</a:t>
            </a:r>
          </a:p>
          <a:p>
            <a:r>
              <a:rPr lang="en-US" dirty="0">
                <a:latin typeface="+mn-lt"/>
              </a:rPr>
              <a:t>Structure is learned by determining </a:t>
            </a:r>
            <a:r>
              <a:rPr lang="en-US" b="1" dirty="0">
                <a:latin typeface="+mn-lt"/>
              </a:rPr>
              <a:t>associations</a:t>
            </a:r>
            <a:r>
              <a:rPr lang="en-US" dirty="0">
                <a:latin typeface="+mn-lt"/>
              </a:rPr>
              <a:t> between cases</a:t>
            </a:r>
          </a:p>
          <a:p>
            <a:pPr lvl="1"/>
            <a:r>
              <a:rPr lang="en-US" dirty="0">
                <a:latin typeface="+mn-lt"/>
              </a:rPr>
              <a:t>Association based on </a:t>
            </a:r>
            <a:r>
              <a:rPr lang="en-US" b="1" dirty="0">
                <a:latin typeface="+mn-lt"/>
              </a:rPr>
              <a:t>measures of similarity</a:t>
            </a:r>
          </a:p>
          <a:p>
            <a:pPr lvl="1"/>
            <a:r>
              <a:rPr lang="en-US" dirty="0">
                <a:latin typeface="+mn-lt"/>
              </a:rPr>
              <a:t>Or,</a:t>
            </a:r>
            <a:r>
              <a:rPr lang="en-US" b="1" dirty="0">
                <a:latin typeface="+mn-lt"/>
              </a:rPr>
              <a:t> distance or dissimilarity</a:t>
            </a:r>
            <a:endParaRPr lang="en-US" dirty="0">
              <a:latin typeface="+mn-lt"/>
            </a:endParaRP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Properties of unsupervised learning models</a:t>
            </a:r>
          </a:p>
          <a:p>
            <a:r>
              <a:rPr lang="en-US" dirty="0">
                <a:latin typeface="+mn-lt"/>
              </a:rPr>
              <a:t>Cluster models are a </a:t>
            </a:r>
            <a:r>
              <a:rPr lang="en-US" b="1" dirty="0">
                <a:latin typeface="+mn-lt"/>
              </a:rPr>
              <a:t>form of similarity search</a:t>
            </a:r>
          </a:p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similarity or dissimilarity metrics</a:t>
            </a:r>
          </a:p>
          <a:p>
            <a:pPr lvl="1"/>
            <a:r>
              <a:rPr lang="en-US" sz="2800" dirty="0">
                <a:latin typeface="+mn-lt"/>
              </a:rPr>
              <a:t>Different distance metrics can discover different relationships </a:t>
            </a:r>
          </a:p>
          <a:p>
            <a:pPr lvl="1"/>
            <a:r>
              <a:rPr lang="en-US" sz="2800" dirty="0">
                <a:latin typeface="+mn-lt"/>
              </a:rPr>
              <a:t>Different algorithms use different metrics</a:t>
            </a:r>
          </a:p>
          <a:p>
            <a:pPr lvl="1"/>
            <a:r>
              <a:rPr lang="en-US" sz="2800" dirty="0">
                <a:latin typeface="+mn-lt"/>
              </a:rPr>
              <a:t>Non-Euclidian metrics often required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minimum distance between members of a cluster, a </a:t>
            </a:r>
            <a:r>
              <a:rPr lang="en-US" sz="2800" b="1" dirty="0">
                <a:latin typeface="+mn-lt"/>
              </a:rPr>
              <a:t>closeness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>
                <a:latin typeface="+mn-lt"/>
              </a:rPr>
              <a:t>property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maximum distance between clusters, a </a:t>
            </a:r>
            <a:r>
              <a:rPr lang="en-US" sz="2800" b="1" dirty="0">
                <a:latin typeface="+mn-lt"/>
              </a:rPr>
              <a:t>confidence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a wide variety of unsupervised learning models </a:t>
            </a:r>
          </a:p>
          <a:p>
            <a:r>
              <a:rPr lang="en-US" dirty="0">
                <a:latin typeface="+mn-lt"/>
              </a:rPr>
              <a:t>Different similarity (dissimilarity) metrics will give different results</a:t>
            </a:r>
          </a:p>
          <a:p>
            <a:pPr lvl="1"/>
            <a:r>
              <a:rPr lang="en-US" sz="2800" b="1" dirty="0">
                <a:latin typeface="+mn-lt"/>
              </a:rPr>
              <a:t>Similarity metrics often matter more </a:t>
            </a:r>
            <a:r>
              <a:rPr lang="en-US" sz="2800" dirty="0">
                <a:latin typeface="+mn-lt"/>
              </a:rPr>
              <a:t>than model 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b="1" dirty="0">
                <a:latin typeface="+mn-lt"/>
              </a:rPr>
              <a:t>Evaluation</a:t>
            </a:r>
            <a:r>
              <a:rPr lang="en-US" dirty="0">
                <a:latin typeface="+mn-lt"/>
              </a:rPr>
              <a:t> is a significant problem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dirty="0">
                <a:latin typeface="+mn-lt"/>
              </a:rPr>
              <a:t>Evaluation is partly subjective</a:t>
            </a:r>
          </a:p>
          <a:p>
            <a:r>
              <a:rPr lang="en-US" dirty="0">
                <a:latin typeface="+mn-lt"/>
              </a:rPr>
              <a:t>Do we have to pick one best model?</a:t>
            </a:r>
          </a:p>
          <a:p>
            <a:pPr lvl="1"/>
            <a:r>
              <a:rPr lang="en-US" sz="2800" b="1" dirty="0">
                <a:latin typeface="+mn-lt"/>
              </a:rPr>
              <a:t>No!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lvl="1"/>
            <a:r>
              <a:rPr lang="en-US" sz="2800" dirty="0">
                <a:latin typeface="+mn-lt"/>
              </a:rPr>
              <a:t>In practice</a:t>
            </a:r>
            <a:r>
              <a:rPr lang="en-US" sz="2800" b="1" dirty="0">
                <a:latin typeface="+mn-lt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try lots of metrics and models, keep the few useful ones!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2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is </a:t>
            </a:r>
            <a:r>
              <a:rPr lang="en-US" b="1" dirty="0">
                <a:latin typeface="+mn-lt"/>
              </a:rPr>
              <a:t>no one best clustering model</a:t>
            </a:r>
            <a:r>
              <a:rPr lang="en-US" dirty="0">
                <a:latin typeface="+mn-lt"/>
              </a:rPr>
              <a:t>!</a:t>
            </a:r>
          </a:p>
          <a:p>
            <a:r>
              <a:rPr lang="en-US" dirty="0">
                <a:latin typeface="+mn-lt"/>
              </a:rPr>
              <a:t>Many classes of models 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compactness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affinity</a:t>
            </a:r>
            <a:r>
              <a:rPr lang="en-US" dirty="0">
                <a:latin typeface="+mn-lt"/>
              </a:rPr>
              <a:t> between points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high density regions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K-Means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3573557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904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K-means clustering algorithm </a:t>
            </a:r>
            <a:r>
              <a:rPr lang="en-US" dirty="0">
                <a:latin typeface="+mn-lt"/>
              </a:rPr>
              <a:t>is arguably the most widely used method</a:t>
            </a:r>
          </a:p>
          <a:p>
            <a:r>
              <a:rPr lang="en-US" dirty="0">
                <a:latin typeface="+mn-lt"/>
              </a:rPr>
              <a:t>Long history</a:t>
            </a:r>
          </a:p>
          <a:p>
            <a:pPr lvl="1"/>
            <a:r>
              <a:rPr lang="en-US" dirty="0">
                <a:latin typeface="+mn-lt"/>
              </a:rPr>
              <a:t>One of the earliest data mining algorithms </a:t>
            </a:r>
          </a:p>
          <a:p>
            <a:pPr lvl="1"/>
            <a:r>
              <a:rPr lang="en-US" dirty="0">
                <a:latin typeface="+mn-lt"/>
              </a:rPr>
              <a:t>First proposed as a coding method by Stuart Lloyd in 1957 – not published until 1982</a:t>
            </a:r>
          </a:p>
          <a:p>
            <a:pPr lvl="1"/>
            <a:r>
              <a:rPr lang="en-US" dirty="0">
                <a:latin typeface="+mn-lt"/>
              </a:rPr>
              <a:t>Term ‘k-means’ coined by Jason MacQueen in 1967</a:t>
            </a:r>
          </a:p>
          <a:p>
            <a:r>
              <a:rPr lang="en-US" dirty="0">
                <a:latin typeface="+mn-lt"/>
              </a:rPr>
              <a:t>The goal of the k-means algorithm is to find the </a:t>
            </a:r>
            <a:r>
              <a:rPr lang="en-US" b="1" dirty="0">
                <a:latin typeface="+mn-lt"/>
              </a:rPr>
              <a:t>best k clusters</a:t>
            </a:r>
          </a:p>
          <a:p>
            <a:pPr lvl="1"/>
            <a:r>
              <a:rPr lang="en-US" dirty="0">
                <a:latin typeface="+mn-lt"/>
              </a:rPr>
              <a:t>Most compact is considered best</a:t>
            </a:r>
          </a:p>
          <a:p>
            <a:pPr lvl="1"/>
            <a:r>
              <a:rPr lang="en-US" dirty="0">
                <a:latin typeface="+mn-lt"/>
              </a:rPr>
              <a:t>K is a chosen hyperparameter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580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K-means clustering algorithm </a:t>
                </a:r>
                <a:r>
                  <a:rPr lang="en-US" dirty="0">
                    <a:latin typeface="+mn-lt"/>
                  </a:rPr>
                  <a:t>is arguably the most widely used method</a:t>
                </a:r>
              </a:p>
              <a:p>
                <a:r>
                  <a:rPr lang="en-US" dirty="0">
                    <a:latin typeface="+mn-lt"/>
                  </a:rPr>
                  <a:t>The goal of the k-means algorithm is to find the </a:t>
                </a:r>
                <a:r>
                  <a:rPr lang="en-US" b="1" dirty="0">
                    <a:latin typeface="+mn-lt"/>
                  </a:rPr>
                  <a:t>best k clusters</a:t>
                </a:r>
              </a:p>
              <a:p>
                <a:r>
                  <a:rPr lang="en-US" dirty="0">
                    <a:latin typeface="+mn-lt"/>
                  </a:rPr>
                  <a:t>How do we define best for the k-means algorithm?</a:t>
                </a:r>
              </a:p>
              <a:p>
                <a:pPr lvl="1"/>
                <a:r>
                  <a:rPr lang="en-US" dirty="0">
                    <a:latin typeface="+mn-lt"/>
                  </a:rPr>
                  <a:t>Dissimilarity metric is </a:t>
                </a:r>
                <a:r>
                  <a:rPr lang="en-US" b="1" dirty="0">
                    <a:latin typeface="+mn-lt"/>
                  </a:rPr>
                  <a:t>sum of squared distances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Minimize dissimilarity within clusters – minimize the inertia within clusters</a:t>
                </a:r>
              </a:p>
              <a:p>
                <a:pPr lvl="1"/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sz="2000" dirty="0">
                    <a:latin typeface="+mn-lt"/>
                  </a:rPr>
                  <a:t>Where, </a:t>
                </a:r>
                <a:r>
                  <a:rPr lang="en-US" sz="2000" b="1" dirty="0">
                    <a:latin typeface="+mn-lt"/>
                  </a:rPr>
                  <a:t>squared distance </a:t>
                </a:r>
                <a:r>
                  <a:rPr lang="en-US" sz="2000" dirty="0">
                    <a:latin typeface="+mn-lt"/>
                  </a:rPr>
                  <a:t>of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latin typeface="+mn-lt"/>
                  </a:rPr>
                  <a:t>, from centroid,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+mn-lt"/>
                  </a:rPr>
                  <a:t>, of cluster </a:t>
                </a:r>
                <a:r>
                  <a:rPr lang="en-US" sz="2000" i="1" dirty="0">
                    <a:latin typeface="+mn-lt"/>
                  </a:rPr>
                  <a:t>i</a:t>
                </a:r>
                <a:r>
                  <a:rPr lang="en-US" sz="2000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  <a:blipFill>
                <a:blip r:embed="rId3"/>
                <a:stretch>
                  <a:fillRect l="-1111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55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</a:t>
                </a:r>
                <a:r>
                  <a:rPr lang="en-US" dirty="0">
                    <a:latin typeface="+mn-lt"/>
                  </a:rPr>
                  <a:t>or</a:t>
                </a:r>
                <a:r>
                  <a:rPr lang="en-US" b="1" dirty="0">
                    <a:latin typeface="+mn-lt"/>
                  </a:rPr>
                  <a:t> inertia </a:t>
                </a:r>
                <a:r>
                  <a:rPr lang="en-US" dirty="0">
                    <a:latin typeface="+mn-lt"/>
                  </a:rPr>
                  <a:t>within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Is there a practical algorithm to directly solve this optimization problem? </a:t>
                </a:r>
              </a:p>
              <a:p>
                <a:r>
                  <a:rPr lang="en-US" dirty="0">
                    <a:latin typeface="+mn-lt"/>
                  </a:rPr>
                  <a:t>Unfortunately, no! </a:t>
                </a:r>
              </a:p>
              <a:p>
                <a:pPr lvl="1"/>
                <a:r>
                  <a:rPr lang="en-US" dirty="0">
                    <a:latin typeface="+mn-lt"/>
                  </a:rPr>
                  <a:t>Fixed number of clusters, </a:t>
                </a:r>
                <a:r>
                  <a:rPr lang="en-US" i="1" dirty="0">
                    <a:latin typeface="+mn-lt"/>
                  </a:rPr>
                  <a:t>k</a:t>
                </a:r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each of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 there are a combinatorial number of possible cluster assignments to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:r>
                  <a:rPr lang="en-US" i="1" dirty="0">
                    <a:latin typeface="+mn-lt"/>
                  </a:rPr>
                  <a:t>n</a:t>
                </a:r>
                <a:r>
                  <a:rPr lang="en-US" dirty="0">
                    <a:latin typeface="+mn-lt"/>
                  </a:rPr>
                  <a:t> observation and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clusters, search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No simple search algorithm is feasible!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76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within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Search will not work.</a:t>
                </a:r>
              </a:p>
              <a:p>
                <a:r>
                  <a:rPr lang="en-US" dirty="0">
                    <a:latin typeface="+mn-lt"/>
                  </a:rPr>
                  <a:t>Need a </a:t>
                </a:r>
                <a:r>
                  <a:rPr lang="en-US" b="1" dirty="0">
                    <a:latin typeface="+mn-lt"/>
                  </a:rPr>
                  <a:t>good heuristic! </a:t>
                </a:r>
              </a:p>
              <a:p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Randomly 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the nearest cluster centroid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given new cluster members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1818" r="-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26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1583650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7AE0E-E2D2-479B-95D0-0EFE423AD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311" y="1601107"/>
            <a:ext cx="8667378" cy="4815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44E61-19C3-4128-867D-546511057B54}"/>
              </a:ext>
            </a:extLst>
          </p:cNvPr>
          <p:cNvSpPr txBox="1"/>
          <p:nvPr/>
        </p:nvSpPr>
        <p:spPr>
          <a:xfrm>
            <a:off x="123986" y="6348965"/>
            <a:ext cx="119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dirty="0"/>
              <a:t>Credit: Data Mining, Practical Machine Learning Tools and Techniques, Whitten et. al., fourth edition, 2016</a:t>
            </a:r>
          </a:p>
        </p:txBody>
      </p:sp>
    </p:spTree>
    <p:extLst>
      <p:ext uri="{BB962C8B-B14F-4D97-AF65-F5344CB8AC3E}">
        <p14:creationId xmlns:p14="http://schemas.microsoft.com/office/powerpoint/2010/main" val="308560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893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EE04E-9C08-4788-A5AB-7FE5D00BDB19}"/>
              </a:ext>
            </a:extLst>
          </p:cNvPr>
          <p:cNvSpPr/>
          <p:nvPr/>
        </p:nvSpPr>
        <p:spPr>
          <a:xfrm>
            <a:off x="294261" y="1969527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03FA1-F222-42B8-8587-E11C1EA998DC}"/>
              </a:ext>
            </a:extLst>
          </p:cNvPr>
          <p:cNvSpPr txBox="1"/>
          <p:nvPr/>
        </p:nvSpPr>
        <p:spPr>
          <a:xfrm>
            <a:off x="569044" y="210138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995CD-94D4-4B99-A43E-5DCED22C6D46}"/>
              </a:ext>
            </a:extLst>
          </p:cNvPr>
          <p:cNvSpPr txBox="1"/>
          <p:nvPr/>
        </p:nvSpPr>
        <p:spPr>
          <a:xfrm>
            <a:off x="783790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65EA3-62F3-4674-948B-3E1DD4C016C5}"/>
              </a:ext>
            </a:extLst>
          </p:cNvPr>
          <p:cNvSpPr txBox="1"/>
          <p:nvPr/>
        </p:nvSpPr>
        <p:spPr>
          <a:xfrm>
            <a:off x="1067805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89D73C-8F08-4202-9FA5-C08DC81152E6}"/>
              </a:ext>
            </a:extLst>
          </p:cNvPr>
          <p:cNvSpPr txBox="1"/>
          <p:nvPr/>
        </p:nvSpPr>
        <p:spPr>
          <a:xfrm>
            <a:off x="569047" y="255957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C1767-0E70-4C32-A0A9-DB8822BBB42F}"/>
              </a:ext>
            </a:extLst>
          </p:cNvPr>
          <p:cNvSpPr txBox="1"/>
          <p:nvPr/>
        </p:nvSpPr>
        <p:spPr>
          <a:xfrm>
            <a:off x="1732279" y="239789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B38D7-1AD2-4E6D-8DBC-A80438BBA0CB}"/>
              </a:ext>
            </a:extLst>
          </p:cNvPr>
          <p:cNvSpPr txBox="1"/>
          <p:nvPr/>
        </p:nvSpPr>
        <p:spPr>
          <a:xfrm>
            <a:off x="2521444" y="226844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46D557-02D0-4219-A972-ED88C20CA0A6}"/>
              </a:ext>
            </a:extLst>
          </p:cNvPr>
          <p:cNvSpPr txBox="1"/>
          <p:nvPr/>
        </p:nvSpPr>
        <p:spPr>
          <a:xfrm>
            <a:off x="2012759" y="26161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C4B64-1779-49CE-BF1C-74C9CD6664A6}"/>
              </a:ext>
            </a:extLst>
          </p:cNvPr>
          <p:cNvSpPr txBox="1"/>
          <p:nvPr/>
        </p:nvSpPr>
        <p:spPr>
          <a:xfrm>
            <a:off x="2481707" y="269540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C93C9-7003-43A7-8367-D534F7EBA414}"/>
              </a:ext>
            </a:extLst>
          </p:cNvPr>
          <p:cNvSpPr txBox="1"/>
          <p:nvPr/>
        </p:nvSpPr>
        <p:spPr>
          <a:xfrm>
            <a:off x="2124958" y="2985532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7EB28-7B8E-42FD-AA05-BDE0D0855C43}"/>
              </a:ext>
            </a:extLst>
          </p:cNvPr>
          <p:cNvSpPr txBox="1"/>
          <p:nvPr/>
        </p:nvSpPr>
        <p:spPr>
          <a:xfrm>
            <a:off x="602395" y="347438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5FBD46-C439-41FA-9545-AC51359F15BD}"/>
              </a:ext>
            </a:extLst>
          </p:cNvPr>
          <p:cNvSpPr txBox="1"/>
          <p:nvPr/>
        </p:nvSpPr>
        <p:spPr>
          <a:xfrm>
            <a:off x="1499106" y="334231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53EE4-015D-48BA-80B4-B66DBEF43807}"/>
              </a:ext>
            </a:extLst>
          </p:cNvPr>
          <p:cNvSpPr txBox="1"/>
          <p:nvPr/>
        </p:nvSpPr>
        <p:spPr>
          <a:xfrm>
            <a:off x="882875" y="3692697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F3BB7-2C33-4CEC-B356-734B7EBEBC73}"/>
              </a:ext>
            </a:extLst>
          </p:cNvPr>
          <p:cNvSpPr txBox="1"/>
          <p:nvPr/>
        </p:nvSpPr>
        <p:spPr>
          <a:xfrm>
            <a:off x="1351823" y="37718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1F77B0-2F97-4394-B78D-4C895B982B10}"/>
              </a:ext>
            </a:extLst>
          </p:cNvPr>
          <p:cNvSpPr txBox="1"/>
          <p:nvPr/>
        </p:nvSpPr>
        <p:spPr>
          <a:xfrm>
            <a:off x="995074" y="406203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C376D6B4-D5C0-4BB8-B20D-A58FA3AE6440}"/>
              </a:ext>
            </a:extLst>
          </p:cNvPr>
          <p:cNvSpPr/>
          <p:nvPr/>
        </p:nvSpPr>
        <p:spPr>
          <a:xfrm>
            <a:off x="809094" y="30398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37491179-2129-49EE-B020-2CE30F69E82D}"/>
              </a:ext>
            </a:extLst>
          </p:cNvPr>
          <p:cNvSpPr/>
          <p:nvPr/>
        </p:nvSpPr>
        <p:spPr>
          <a:xfrm>
            <a:off x="2237226" y="361918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E6E44C08-6F05-4EA5-BC65-170EE14F0EB5}"/>
              </a:ext>
            </a:extLst>
          </p:cNvPr>
          <p:cNvSpPr/>
          <p:nvPr/>
        </p:nvSpPr>
        <p:spPr>
          <a:xfrm>
            <a:off x="2120718" y="230539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CBCB0D-DA88-47C6-B218-ED6BA91EFAE9}"/>
              </a:ext>
            </a:extLst>
          </p:cNvPr>
          <p:cNvSpPr/>
          <p:nvPr/>
        </p:nvSpPr>
        <p:spPr>
          <a:xfrm>
            <a:off x="3327312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>
            <a:extLst>
              <a:ext uri="{FF2B5EF4-FFF2-40B4-BE49-F238E27FC236}">
                <a16:creationId xmlns:a16="http://schemas.microsoft.com/office/drawing/2014/main" id="{F4028F85-7C65-463E-804C-5493DAD9C1B8}"/>
              </a:ext>
            </a:extLst>
          </p:cNvPr>
          <p:cNvSpPr/>
          <p:nvPr/>
        </p:nvSpPr>
        <p:spPr>
          <a:xfrm>
            <a:off x="3819056" y="3021968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>
            <a:extLst>
              <a:ext uri="{FF2B5EF4-FFF2-40B4-BE49-F238E27FC236}">
                <a16:creationId xmlns:a16="http://schemas.microsoft.com/office/drawing/2014/main" id="{61EE8AAF-08AB-4EC6-986D-160B265A9B12}"/>
              </a:ext>
            </a:extLst>
          </p:cNvPr>
          <p:cNvSpPr/>
          <p:nvPr/>
        </p:nvSpPr>
        <p:spPr>
          <a:xfrm>
            <a:off x="5247188" y="3601289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>
            <a:extLst>
              <a:ext uri="{FF2B5EF4-FFF2-40B4-BE49-F238E27FC236}">
                <a16:creationId xmlns:a16="http://schemas.microsoft.com/office/drawing/2014/main" id="{ECE13560-C8DE-4228-B694-F8AD22A09F08}"/>
              </a:ext>
            </a:extLst>
          </p:cNvPr>
          <p:cNvSpPr/>
          <p:nvPr/>
        </p:nvSpPr>
        <p:spPr>
          <a:xfrm>
            <a:off x="5130680" y="228750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47C28A40-3C0E-4103-B4A6-05B9F3EFD7EC}"/>
              </a:ext>
            </a:extLst>
          </p:cNvPr>
          <p:cNvSpPr/>
          <p:nvPr/>
        </p:nvSpPr>
        <p:spPr>
          <a:xfrm>
            <a:off x="5223670" y="312251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7D36C4A-9C54-4A3F-B387-8EBB17B8AE20}"/>
              </a:ext>
            </a:extLst>
          </p:cNvPr>
          <p:cNvSpPr/>
          <p:nvPr/>
        </p:nvSpPr>
        <p:spPr>
          <a:xfrm>
            <a:off x="3666110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5DC157-08F4-4C52-A528-BE39617BE549}"/>
              </a:ext>
            </a:extLst>
          </p:cNvPr>
          <p:cNvSpPr/>
          <p:nvPr/>
        </p:nvSpPr>
        <p:spPr>
          <a:xfrm>
            <a:off x="4854288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D44DAC-4F53-4AF5-9470-785A5BAC4272}"/>
              </a:ext>
            </a:extLst>
          </p:cNvPr>
          <p:cNvSpPr/>
          <p:nvPr/>
        </p:nvSpPr>
        <p:spPr>
          <a:xfrm>
            <a:off x="5125542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3FD93BF-181C-4B5B-B3C9-1405137286D2}"/>
              </a:ext>
            </a:extLst>
          </p:cNvPr>
          <p:cNvSpPr/>
          <p:nvPr/>
        </p:nvSpPr>
        <p:spPr>
          <a:xfrm>
            <a:off x="5623183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78DEE1-C4AE-4180-A9C1-834063CDD17E}"/>
              </a:ext>
            </a:extLst>
          </p:cNvPr>
          <p:cNvSpPr/>
          <p:nvPr/>
        </p:nvSpPr>
        <p:spPr>
          <a:xfrm>
            <a:off x="5596513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E1A0666-CE40-4E67-89AA-4883F21B80CB}"/>
              </a:ext>
            </a:extLst>
          </p:cNvPr>
          <p:cNvSpPr/>
          <p:nvPr/>
        </p:nvSpPr>
        <p:spPr>
          <a:xfrm>
            <a:off x="4520562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729A574B-AEE9-49B8-82CA-86C67970B262}"/>
              </a:ext>
            </a:extLst>
          </p:cNvPr>
          <p:cNvSpPr/>
          <p:nvPr/>
        </p:nvSpPr>
        <p:spPr>
          <a:xfrm>
            <a:off x="4484525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74CD5A1-972D-43E7-97FE-C3977A0BAE6B}"/>
              </a:ext>
            </a:extLst>
          </p:cNvPr>
          <p:cNvSpPr/>
          <p:nvPr/>
        </p:nvSpPr>
        <p:spPr>
          <a:xfrm>
            <a:off x="3892568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99A0C34-2E28-4E43-8D85-C6524AE6D331}"/>
              </a:ext>
            </a:extLst>
          </p:cNvPr>
          <p:cNvSpPr/>
          <p:nvPr/>
        </p:nvSpPr>
        <p:spPr>
          <a:xfrm>
            <a:off x="4167355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6AF03C9-0685-40FF-859C-131DB982121E}"/>
              </a:ext>
            </a:extLst>
          </p:cNvPr>
          <p:cNvSpPr/>
          <p:nvPr/>
        </p:nvSpPr>
        <p:spPr>
          <a:xfrm>
            <a:off x="3666110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A7D626E-BF51-40C0-921E-00964EBC41EB}"/>
              </a:ext>
            </a:extLst>
          </p:cNvPr>
          <p:cNvSpPr/>
          <p:nvPr/>
        </p:nvSpPr>
        <p:spPr>
          <a:xfrm>
            <a:off x="3704590" y="3586587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267DBF5-0BC1-4179-BBE6-875689E471B0}"/>
              </a:ext>
            </a:extLst>
          </p:cNvPr>
          <p:cNvSpPr/>
          <p:nvPr/>
        </p:nvSpPr>
        <p:spPr>
          <a:xfrm>
            <a:off x="3991463" y="380489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E90204-0FC7-4E1C-BEBB-7F03CDAD86AB}"/>
              </a:ext>
            </a:extLst>
          </p:cNvPr>
          <p:cNvSpPr/>
          <p:nvPr/>
        </p:nvSpPr>
        <p:spPr>
          <a:xfrm>
            <a:off x="4090811" y="417422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E875FF-A215-4EFB-9ECC-445F1B8E9958}"/>
              </a:ext>
            </a:extLst>
          </p:cNvPr>
          <p:cNvSpPr/>
          <p:nvPr/>
        </p:nvSpPr>
        <p:spPr>
          <a:xfrm>
            <a:off x="6310116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8592D32A-727D-4876-BC42-E476C1F82B4F}"/>
              </a:ext>
            </a:extLst>
          </p:cNvPr>
          <p:cNvSpPr/>
          <p:nvPr/>
        </p:nvSpPr>
        <p:spPr>
          <a:xfrm>
            <a:off x="6900755" y="301798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6EC3D0B3-3F3F-4145-BFC8-F54D5128ED36}"/>
              </a:ext>
            </a:extLst>
          </p:cNvPr>
          <p:cNvSpPr/>
          <p:nvPr/>
        </p:nvSpPr>
        <p:spPr>
          <a:xfrm>
            <a:off x="7475859" y="3654450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E5ECA91A-8229-4930-B890-85B9692A25E3}"/>
              </a:ext>
            </a:extLst>
          </p:cNvPr>
          <p:cNvSpPr/>
          <p:nvPr/>
        </p:nvSpPr>
        <p:spPr>
          <a:xfrm>
            <a:off x="8297944" y="2533541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2132BF4-5EAF-43B7-8136-C39A47F49F61}"/>
              </a:ext>
            </a:extLst>
          </p:cNvPr>
          <p:cNvSpPr/>
          <p:nvPr/>
        </p:nvSpPr>
        <p:spPr>
          <a:xfrm>
            <a:off x="6648914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3490EB-AF75-414D-A24A-9C78EE63AD7A}"/>
              </a:ext>
            </a:extLst>
          </p:cNvPr>
          <p:cNvSpPr/>
          <p:nvPr/>
        </p:nvSpPr>
        <p:spPr>
          <a:xfrm>
            <a:off x="7837092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1175B6-7530-44A5-B992-75A20D7D50C5}"/>
              </a:ext>
            </a:extLst>
          </p:cNvPr>
          <p:cNvSpPr/>
          <p:nvPr/>
        </p:nvSpPr>
        <p:spPr>
          <a:xfrm>
            <a:off x="8108346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D5732B4-1096-4C6F-A1DC-10856E8132DF}"/>
              </a:ext>
            </a:extLst>
          </p:cNvPr>
          <p:cNvSpPr/>
          <p:nvPr/>
        </p:nvSpPr>
        <p:spPr>
          <a:xfrm>
            <a:off x="8605987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966CF0-BF7C-4057-854A-1426B995B1C9}"/>
              </a:ext>
            </a:extLst>
          </p:cNvPr>
          <p:cNvSpPr/>
          <p:nvPr/>
        </p:nvSpPr>
        <p:spPr>
          <a:xfrm>
            <a:off x="8579317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8F9A27BD-064C-4949-BB69-151EE7FB899A}"/>
              </a:ext>
            </a:extLst>
          </p:cNvPr>
          <p:cNvSpPr/>
          <p:nvPr/>
        </p:nvSpPr>
        <p:spPr>
          <a:xfrm>
            <a:off x="7503366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B4E8C7A6-EC1A-48B9-B48E-115A753BE097}"/>
              </a:ext>
            </a:extLst>
          </p:cNvPr>
          <p:cNvSpPr/>
          <p:nvPr/>
        </p:nvSpPr>
        <p:spPr>
          <a:xfrm>
            <a:off x="7467329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B103445-C3ED-461E-A4D9-C9C84F77B3A2}"/>
              </a:ext>
            </a:extLst>
          </p:cNvPr>
          <p:cNvSpPr/>
          <p:nvPr/>
        </p:nvSpPr>
        <p:spPr>
          <a:xfrm>
            <a:off x="6875372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A4FB579-A406-408C-96C0-F7117D177BA9}"/>
              </a:ext>
            </a:extLst>
          </p:cNvPr>
          <p:cNvSpPr/>
          <p:nvPr/>
        </p:nvSpPr>
        <p:spPr>
          <a:xfrm>
            <a:off x="7150159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20A37FC-33A5-4B9E-ACD5-E87320FBF83C}"/>
              </a:ext>
            </a:extLst>
          </p:cNvPr>
          <p:cNvSpPr/>
          <p:nvPr/>
        </p:nvSpPr>
        <p:spPr>
          <a:xfrm>
            <a:off x="6648914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4E3F1D-68DD-425B-843D-027C5DD06D3A}"/>
              </a:ext>
            </a:extLst>
          </p:cNvPr>
          <p:cNvSpPr/>
          <p:nvPr/>
        </p:nvSpPr>
        <p:spPr>
          <a:xfrm>
            <a:off x="6687394" y="3586587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7F497AD-B31D-47AF-AE62-494F6A06D104}"/>
              </a:ext>
            </a:extLst>
          </p:cNvPr>
          <p:cNvSpPr/>
          <p:nvPr/>
        </p:nvSpPr>
        <p:spPr>
          <a:xfrm>
            <a:off x="8296743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8BE965FB-171E-4734-A197-0AA2766B83E3}"/>
              </a:ext>
            </a:extLst>
          </p:cNvPr>
          <p:cNvSpPr/>
          <p:nvPr/>
        </p:nvSpPr>
        <p:spPr>
          <a:xfrm>
            <a:off x="6997199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51F120C1-A779-4811-ABEF-DEC99E0A5D03}"/>
              </a:ext>
            </a:extLst>
          </p:cNvPr>
          <p:cNvSpPr/>
          <p:nvPr/>
        </p:nvSpPr>
        <p:spPr>
          <a:xfrm>
            <a:off x="7114199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3CD2255-8ECA-4A01-8827-07A6A8B47B28}"/>
              </a:ext>
            </a:extLst>
          </p:cNvPr>
          <p:cNvSpPr/>
          <p:nvPr/>
        </p:nvSpPr>
        <p:spPr>
          <a:xfrm>
            <a:off x="9284533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Cross 80">
            <a:extLst>
              <a:ext uri="{FF2B5EF4-FFF2-40B4-BE49-F238E27FC236}">
                <a16:creationId xmlns:a16="http://schemas.microsoft.com/office/drawing/2014/main" id="{7DAC99E7-9A2A-40B0-9A8A-FD92350C493F}"/>
              </a:ext>
            </a:extLst>
          </p:cNvPr>
          <p:cNvSpPr/>
          <p:nvPr/>
        </p:nvSpPr>
        <p:spPr>
          <a:xfrm>
            <a:off x="9764447" y="244262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ross 81">
            <a:extLst>
              <a:ext uri="{FF2B5EF4-FFF2-40B4-BE49-F238E27FC236}">
                <a16:creationId xmlns:a16="http://schemas.microsoft.com/office/drawing/2014/main" id="{E80E7877-C608-4A49-9FFF-05CED5E57AA9}"/>
              </a:ext>
            </a:extLst>
          </p:cNvPr>
          <p:cNvSpPr/>
          <p:nvPr/>
        </p:nvSpPr>
        <p:spPr>
          <a:xfrm>
            <a:off x="10156386" y="37362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ross 82">
            <a:extLst>
              <a:ext uri="{FF2B5EF4-FFF2-40B4-BE49-F238E27FC236}">
                <a16:creationId xmlns:a16="http://schemas.microsoft.com/office/drawing/2014/main" id="{CC41D04B-E706-4947-9D76-D68569A2E3E2}"/>
              </a:ext>
            </a:extLst>
          </p:cNvPr>
          <p:cNvSpPr/>
          <p:nvPr/>
        </p:nvSpPr>
        <p:spPr>
          <a:xfrm>
            <a:off x="11304746" y="268083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26FBE4E-099A-4D7F-B057-4D7A525E0F6B}"/>
              </a:ext>
            </a:extLst>
          </p:cNvPr>
          <p:cNvSpPr/>
          <p:nvPr/>
        </p:nvSpPr>
        <p:spPr>
          <a:xfrm>
            <a:off x="9623331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0D6C20-D30B-440B-800E-EC33C96353E2}"/>
              </a:ext>
            </a:extLst>
          </p:cNvPr>
          <p:cNvSpPr/>
          <p:nvPr/>
        </p:nvSpPr>
        <p:spPr>
          <a:xfrm>
            <a:off x="10811509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D8D19F4-0696-4124-811B-2D688C4EDB75}"/>
              </a:ext>
            </a:extLst>
          </p:cNvPr>
          <p:cNvSpPr/>
          <p:nvPr/>
        </p:nvSpPr>
        <p:spPr>
          <a:xfrm>
            <a:off x="11082763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A3E520-36BE-413F-80A7-69FD05137D26}"/>
              </a:ext>
            </a:extLst>
          </p:cNvPr>
          <p:cNvSpPr/>
          <p:nvPr/>
        </p:nvSpPr>
        <p:spPr>
          <a:xfrm>
            <a:off x="11580404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58DDA99-63C5-4B5C-A073-A20885627E19}"/>
              </a:ext>
            </a:extLst>
          </p:cNvPr>
          <p:cNvSpPr/>
          <p:nvPr/>
        </p:nvSpPr>
        <p:spPr>
          <a:xfrm>
            <a:off x="11553734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Isosceles Triangle 88">
            <a:extLst>
              <a:ext uri="{FF2B5EF4-FFF2-40B4-BE49-F238E27FC236}">
                <a16:creationId xmlns:a16="http://schemas.microsoft.com/office/drawing/2014/main" id="{721A2449-5F82-478C-A179-5AED4F94F276}"/>
              </a:ext>
            </a:extLst>
          </p:cNvPr>
          <p:cNvSpPr/>
          <p:nvPr/>
        </p:nvSpPr>
        <p:spPr>
          <a:xfrm>
            <a:off x="10477783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9604B44C-9BD0-4048-9AE6-CEC338028796}"/>
              </a:ext>
            </a:extLst>
          </p:cNvPr>
          <p:cNvSpPr/>
          <p:nvPr/>
        </p:nvSpPr>
        <p:spPr>
          <a:xfrm>
            <a:off x="10441746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401D066-CB46-405D-BAA6-444776D36E4D}"/>
              </a:ext>
            </a:extLst>
          </p:cNvPr>
          <p:cNvSpPr/>
          <p:nvPr/>
        </p:nvSpPr>
        <p:spPr>
          <a:xfrm>
            <a:off x="9849789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7FC28C6-A68F-40F0-84AD-A40564AD4506}"/>
              </a:ext>
            </a:extLst>
          </p:cNvPr>
          <p:cNvSpPr/>
          <p:nvPr/>
        </p:nvSpPr>
        <p:spPr>
          <a:xfrm>
            <a:off x="10124576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EE895CA-6CEC-4886-B620-EBB15AF5A151}"/>
              </a:ext>
            </a:extLst>
          </p:cNvPr>
          <p:cNvSpPr/>
          <p:nvPr/>
        </p:nvSpPr>
        <p:spPr>
          <a:xfrm>
            <a:off x="9623331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F942A8E-8E2E-4263-8239-E4313BDC126A}"/>
              </a:ext>
            </a:extLst>
          </p:cNvPr>
          <p:cNvSpPr/>
          <p:nvPr/>
        </p:nvSpPr>
        <p:spPr>
          <a:xfrm>
            <a:off x="11271160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8EB447D0-675C-4FC1-A603-4C10A662807F}"/>
              </a:ext>
            </a:extLst>
          </p:cNvPr>
          <p:cNvSpPr/>
          <p:nvPr/>
        </p:nvSpPr>
        <p:spPr>
          <a:xfrm>
            <a:off x="9971616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51F7018F-C4B5-4272-898D-A0C662A9760A}"/>
              </a:ext>
            </a:extLst>
          </p:cNvPr>
          <p:cNvSpPr/>
          <p:nvPr/>
        </p:nvSpPr>
        <p:spPr>
          <a:xfrm>
            <a:off x="10088616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95B581C7-2D2D-4BC8-AC32-138D83ECD6CD}"/>
              </a:ext>
            </a:extLst>
          </p:cNvPr>
          <p:cNvSpPr/>
          <p:nvPr/>
        </p:nvSpPr>
        <p:spPr>
          <a:xfrm>
            <a:off x="9618242" y="356044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651444B-3D18-4166-8094-D91EDC33F851}"/>
              </a:ext>
            </a:extLst>
          </p:cNvPr>
          <p:cNvSpPr txBox="1"/>
          <p:nvPr/>
        </p:nvSpPr>
        <p:spPr>
          <a:xfrm>
            <a:off x="294261" y="5646093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Assign Random cluster centers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B4C0DC-A105-41E2-A3E7-E2CF9BEC389A}"/>
              </a:ext>
            </a:extLst>
          </p:cNvPr>
          <p:cNvSpPr txBox="1"/>
          <p:nvPr/>
        </p:nvSpPr>
        <p:spPr>
          <a:xfrm>
            <a:off x="294261" y="4819856"/>
            <a:ext cx="2679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Start with data points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D63B697-C064-440B-9B16-07CE1ADBFAD8}"/>
              </a:ext>
            </a:extLst>
          </p:cNvPr>
          <p:cNvSpPr txBox="1"/>
          <p:nvPr/>
        </p:nvSpPr>
        <p:spPr>
          <a:xfrm>
            <a:off x="3249209" y="4844870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Initial cluster assignments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5E965B2-821A-45E0-8E44-A74147BFB83C}"/>
              </a:ext>
            </a:extLst>
          </p:cNvPr>
          <p:cNvSpPr txBox="1"/>
          <p:nvPr/>
        </p:nvSpPr>
        <p:spPr>
          <a:xfrm>
            <a:off x="6352309" y="4922445"/>
            <a:ext cx="2619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Update cluster centers and assignments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A817D14-C985-4900-81F9-85A1F41D5368}"/>
              </a:ext>
            </a:extLst>
          </p:cNvPr>
          <p:cNvSpPr txBox="1"/>
          <p:nvPr/>
        </p:nvSpPr>
        <p:spPr>
          <a:xfrm>
            <a:off x="9307257" y="4819863"/>
            <a:ext cx="2619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/>
              <a:t>Iterate cluster centers and assignments until convergence</a:t>
            </a:r>
          </a:p>
        </p:txBody>
      </p:sp>
    </p:spTree>
    <p:extLst>
      <p:ext uri="{BB962C8B-B14F-4D97-AF65-F5344CB8AC3E}">
        <p14:creationId xmlns:p14="http://schemas.microsoft.com/office/powerpoint/2010/main" val="150358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and starting (initial) centroids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the nearest cluster centroid for each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∈{1,2,…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– </a:t>
                </a:r>
                <a:r>
                  <a:rPr lang="en-US" b="1" dirty="0">
                    <a:latin typeface="+mn-lt"/>
                  </a:rPr>
                  <a:t>convergence</a:t>
                </a:r>
              </a:p>
              <a:p>
                <a:pPr lvl="1"/>
                <a:r>
                  <a:rPr lang="en-US" dirty="0">
                    <a:latin typeface="+mn-lt"/>
                  </a:rPr>
                  <a:t>Convergence defined by small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96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several difficulties with using the k-means algorithm</a:t>
            </a:r>
          </a:p>
          <a:p>
            <a:r>
              <a:rPr lang="en-US" dirty="0">
                <a:latin typeface="+mn-lt"/>
              </a:rPr>
              <a:t>What is the value of </a:t>
            </a:r>
            <a:r>
              <a:rPr lang="en-US" i="1" dirty="0">
                <a:latin typeface="+mn-lt"/>
              </a:rPr>
              <a:t>k</a:t>
            </a:r>
            <a:r>
              <a:rPr lang="en-US" dirty="0">
                <a:latin typeface="+mn-lt"/>
              </a:rPr>
              <a:t>, the number of clusters?</a:t>
            </a:r>
          </a:p>
          <a:p>
            <a:pPr lvl="1"/>
            <a:r>
              <a:rPr lang="en-US" dirty="0">
                <a:latin typeface="+mn-lt"/>
              </a:rPr>
              <a:t>The number of clusters should reflect fundamental relationships in the data</a:t>
            </a:r>
          </a:p>
          <a:p>
            <a:pPr lvl="1"/>
            <a:r>
              <a:rPr lang="en-US" dirty="0">
                <a:latin typeface="+mn-lt"/>
              </a:rPr>
              <a:t>Is there any way to know k in advance for high dimensional problems? </a:t>
            </a:r>
          </a:p>
          <a:p>
            <a:pPr lvl="1"/>
            <a:r>
              <a:rPr lang="en-US" dirty="0">
                <a:latin typeface="+mn-lt"/>
              </a:rPr>
              <a:t>No, k is found empirically, and the selection is often a bit subjective</a:t>
            </a:r>
          </a:p>
          <a:p>
            <a:r>
              <a:rPr lang="en-US" dirty="0">
                <a:latin typeface="+mn-lt"/>
              </a:rPr>
              <a:t>How to find good starting values of the centroids?</a:t>
            </a:r>
          </a:p>
          <a:p>
            <a:pPr lvl="1"/>
            <a:r>
              <a:rPr lang="en-US" dirty="0">
                <a:latin typeface="+mn-lt"/>
              </a:rPr>
              <a:t>At convergence the resulting clusters depend on the starting values</a:t>
            </a:r>
          </a:p>
          <a:p>
            <a:pPr lvl="1"/>
            <a:r>
              <a:rPr lang="en-US" dirty="0">
                <a:latin typeface="+mn-lt"/>
              </a:rPr>
              <a:t>Is there any algorithm for finding good starting values? </a:t>
            </a:r>
          </a:p>
          <a:p>
            <a:pPr lvl="1"/>
            <a:r>
              <a:rPr lang="en-US" dirty="0">
                <a:latin typeface="+mn-lt"/>
              </a:rPr>
              <a:t>No!</a:t>
            </a:r>
          </a:p>
          <a:p>
            <a:pPr lvl="1"/>
            <a:r>
              <a:rPr lang="en-US" dirty="0">
                <a:latin typeface="+mn-lt"/>
              </a:rPr>
              <a:t>So, </a:t>
            </a:r>
            <a:r>
              <a:rPr lang="en-US" b="1" dirty="0">
                <a:latin typeface="+mn-lt"/>
              </a:rPr>
              <a:t>multiple random starts</a:t>
            </a:r>
            <a:r>
              <a:rPr lang="en-US" dirty="0">
                <a:latin typeface="+mn-lt"/>
              </a:rPr>
              <a:t> are often used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420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Properties of K-Means clustering </a:t>
                </a:r>
              </a:p>
              <a:p>
                <a:r>
                  <a:rPr lang="en-US" dirty="0">
                    <a:latin typeface="+mn-lt"/>
                  </a:rPr>
                  <a:t>K must be determined empirically </a:t>
                </a:r>
              </a:p>
              <a:p>
                <a:r>
                  <a:rPr lang="en-US" dirty="0">
                    <a:latin typeface="+mn-lt"/>
                  </a:rPr>
                  <a:t>K-means clustering creates a flat cluster structure</a:t>
                </a:r>
              </a:p>
              <a:p>
                <a:r>
                  <a:rPr lang="en-US" dirty="0">
                    <a:latin typeface="+mn-lt"/>
                  </a:rPr>
                  <a:t>Search for nearest centroid in Euclidean space means K-means algorithm is most effective for low-dimensional data,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Can apply dimensionality reduction/embedding methods</a:t>
                </a:r>
              </a:p>
              <a:p>
                <a:r>
                  <a:rPr lang="en-US" dirty="0">
                    <a:latin typeface="+mn-lt"/>
                  </a:rPr>
                  <a:t>Using sum of square distance allows only </a:t>
                </a:r>
                <a:r>
                  <a:rPr lang="en-US" b="1" dirty="0">
                    <a:latin typeface="+mn-lt"/>
                  </a:rPr>
                  <a:t>convex clusters</a:t>
                </a:r>
              </a:p>
              <a:p>
                <a:r>
                  <a:rPr lang="en-US" dirty="0">
                    <a:latin typeface="+mn-lt"/>
                  </a:rPr>
                  <a:t>Random starts give non-deterministic outcomes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64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32324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46563" y="896079"/>
            <a:ext cx="4812062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K-means clustering produces convex clusters</a:t>
            </a:r>
          </a:p>
          <a:p>
            <a:r>
              <a:rPr lang="en-US" dirty="0">
                <a:latin typeface="+mn-lt"/>
              </a:rPr>
              <a:t>Clusters are linearly separated</a:t>
            </a:r>
          </a:p>
          <a:p>
            <a:r>
              <a:rPr lang="en-US" dirty="0">
                <a:latin typeface="+mn-lt"/>
              </a:rPr>
              <a:t>Clusters are within </a:t>
            </a:r>
            <a:r>
              <a:rPr lang="en-US" b="1" dirty="0">
                <a:latin typeface="+mn-lt"/>
              </a:rPr>
              <a:t>Voronoi regions</a:t>
            </a:r>
          </a:p>
          <a:p>
            <a:r>
              <a:rPr lang="en-US" dirty="0">
                <a:latin typeface="+mn-lt"/>
              </a:rPr>
              <a:t>Analogous to k-NN search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1C25CAB-9A22-45EE-9551-83BDE89DB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1" y="819010"/>
            <a:ext cx="6999042" cy="524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927C47-B43C-4FCC-B550-F453ED7ED3EA}"/>
              </a:ext>
            </a:extLst>
          </p:cNvPr>
          <p:cNvSpPr txBox="1"/>
          <p:nvPr/>
        </p:nvSpPr>
        <p:spPr>
          <a:xfrm>
            <a:off x="1059629" y="5959394"/>
            <a:ext cx="4935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Scikit-Learn development team; </a:t>
            </a:r>
            <a:r>
              <a:rPr lang="en-US" dirty="0" err="1"/>
              <a:t>Pedregosa</a:t>
            </a:r>
            <a:r>
              <a:rPr lang="en-US" dirty="0"/>
              <a:t> </a:t>
            </a:r>
            <a:r>
              <a:rPr lang="en-US" i="1" dirty="0"/>
              <a:t>et al.</a:t>
            </a:r>
            <a:r>
              <a:rPr lang="en-US" dirty="0"/>
              <a:t>, JMLR 12, pp. 2825-2830, 2011</a:t>
            </a:r>
          </a:p>
        </p:txBody>
      </p:sp>
    </p:spTree>
    <p:extLst>
      <p:ext uri="{BB962C8B-B14F-4D97-AF65-F5344CB8AC3E}">
        <p14:creationId xmlns:p14="http://schemas.microsoft.com/office/powerpoint/2010/main" val="152401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Computational complexity of the algorithm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observations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dimensions 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 initialization around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Initialize cluster assignments,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Assigning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vectors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centroids,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we can improve by using KD-tree search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Comparing point classifications,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assuming uniformly distributed observations,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Repeated steps 3, 4 and 5 until convergence </a:t>
                </a:r>
              </a:p>
              <a:p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iterations the complexity is about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memory required to store lists of centroids and cluster assignments in addition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for observations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005" t="-2139" r="-476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031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Evaluating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2068607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No direct measure as with supervised machine learning</a:t>
            </a:r>
          </a:p>
          <a:p>
            <a:r>
              <a:rPr lang="en-US" dirty="0">
                <a:latin typeface="+mn-lt"/>
              </a:rPr>
              <a:t>Can we use cross validation? </a:t>
            </a:r>
          </a:p>
          <a:p>
            <a:pPr lvl="1"/>
            <a:r>
              <a:rPr lang="en-US" dirty="0">
                <a:latin typeface="+mn-lt"/>
              </a:rPr>
              <a:t>Not directly, we have no labels</a:t>
            </a:r>
          </a:p>
          <a:p>
            <a:r>
              <a:rPr lang="en-US" dirty="0">
                <a:latin typeface="+mn-lt"/>
              </a:rPr>
              <a:t>Use metrics that measure the properties of the clusters</a:t>
            </a:r>
          </a:p>
          <a:p>
            <a:pPr lvl="1"/>
            <a:r>
              <a:rPr lang="en-US" dirty="0">
                <a:latin typeface="+mn-lt"/>
              </a:rPr>
              <a:t>Compactness of clusters</a:t>
            </a:r>
          </a:p>
          <a:p>
            <a:pPr lvl="1"/>
            <a:r>
              <a:rPr lang="en-US" dirty="0">
                <a:latin typeface="+mn-lt"/>
              </a:rPr>
              <a:t>Separation between clusters</a:t>
            </a:r>
          </a:p>
          <a:p>
            <a:r>
              <a:rPr lang="en-US" dirty="0">
                <a:latin typeface="+mn-lt"/>
              </a:rPr>
              <a:t>For k-means clustering the distance metric is quadratic</a:t>
            </a:r>
          </a:p>
          <a:p>
            <a:pPr lvl="1"/>
            <a:r>
              <a:rPr lang="en-US" dirty="0">
                <a:latin typeface="+mn-lt"/>
              </a:rPr>
              <a:t>Use sum of square metrics   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88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Within and between cluster sum of squares</a:t>
            </a:r>
          </a:p>
          <a:p>
            <a:pPr lvl="1"/>
            <a:r>
              <a:rPr lang="en-US" sz="2800" dirty="0">
                <a:latin typeface="+mn-lt"/>
              </a:rPr>
              <a:t>Can compare cluster models</a:t>
            </a:r>
          </a:p>
          <a:p>
            <a:pPr lvl="1"/>
            <a:r>
              <a:rPr lang="en-US" sz="2800" dirty="0">
                <a:latin typeface="+mn-lt"/>
              </a:rPr>
              <a:t>Determine </a:t>
            </a:r>
            <a:r>
              <a:rPr lang="en-US" sz="2800" i="1" dirty="0">
                <a:latin typeface="+mn-lt"/>
              </a:rPr>
              <a:t>k</a:t>
            </a:r>
          </a:p>
          <a:p>
            <a:pPr lvl="1"/>
            <a:r>
              <a:rPr lang="en-US" sz="2800" dirty="0">
                <a:latin typeface="+mn-lt"/>
              </a:rPr>
              <a:t>Only useful </a:t>
            </a:r>
            <a:r>
              <a:rPr lang="en-US" sz="2800" b="1" dirty="0">
                <a:latin typeface="+mn-lt"/>
              </a:rPr>
              <a:t>for Euclidean space!</a:t>
            </a:r>
          </a:p>
          <a:p>
            <a:r>
              <a:rPr lang="en-US" dirty="0">
                <a:latin typeface="+mn-lt"/>
              </a:rPr>
              <a:t>Other methods</a:t>
            </a:r>
          </a:p>
          <a:p>
            <a:pPr lvl="1"/>
            <a:r>
              <a:rPr lang="en-US" sz="2800" dirty="0">
                <a:latin typeface="+mn-lt"/>
              </a:rPr>
              <a:t>Silhouette coefficients – Does not depend on Euclidian space </a:t>
            </a:r>
          </a:p>
          <a:p>
            <a:pPr lvl="1"/>
            <a:r>
              <a:rPr lang="en-US" sz="2800" dirty="0" err="1">
                <a:latin typeface="+mn-lt"/>
              </a:rPr>
              <a:t>Calinski-Harabasz</a:t>
            </a:r>
            <a:r>
              <a:rPr lang="en-US" sz="2800" dirty="0">
                <a:latin typeface="+mn-lt"/>
              </a:rPr>
              <a:t> index – Only for </a:t>
            </a:r>
            <a:r>
              <a:rPr lang="en-US" sz="2800" b="1" dirty="0">
                <a:latin typeface="+mn-lt"/>
              </a:rPr>
              <a:t>Euclidean space!</a:t>
            </a:r>
          </a:p>
          <a:p>
            <a:pPr lvl="1"/>
            <a:r>
              <a:rPr lang="en-US" sz="2800" dirty="0">
                <a:latin typeface="+mn-lt"/>
              </a:rPr>
              <a:t>Many others…….</a:t>
            </a:r>
          </a:p>
          <a:p>
            <a:r>
              <a:rPr lang="en-US" dirty="0">
                <a:latin typeface="+mn-lt"/>
              </a:rPr>
              <a:t>Notice that all of these methods assume clusters are Normally distributed in a Euclidean space!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906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Between and within cluster metrics</a:t>
                </a:r>
              </a:p>
              <a:p>
                <a:r>
                  <a:rPr lang="en-US" b="1" dirty="0">
                    <a:latin typeface="+mn-lt"/>
                  </a:rPr>
                  <a:t>Within cluster sum of squares </a:t>
                </a:r>
                <a:r>
                  <a:rPr lang="en-US" dirty="0">
                    <a:latin typeface="+mn-lt"/>
                  </a:rPr>
                  <a:t>is the sum of squares within each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𝑐𝑙𝑢𝑠𝑡𝑒𝑟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Total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Between cluster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01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39119" y="1152041"/>
            <a:ext cx="11419505" cy="1575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WCSS and BCSS to compare clustering models</a:t>
            </a:r>
          </a:p>
          <a:p>
            <a:r>
              <a:rPr lang="en-US" dirty="0">
                <a:latin typeface="+mn-lt"/>
              </a:rPr>
              <a:t>Limit number of clusters where WCSS and BCSS  have marginal changes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00AAA-4B70-039D-1F00-1E0F00EFB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2310628"/>
            <a:ext cx="10377055" cy="43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90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</a:t>
                </a:r>
              </a:p>
              <a:p>
                <a:r>
                  <a:rPr lang="en-US" dirty="0">
                    <a:latin typeface="+mn-lt"/>
                  </a:rPr>
                  <a:t>The normalized average distance, in any metric, between a point and the other members of its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normalized average distance, in any metric, between a point and the members of other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∉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the normalized difference of averages of between cluster and within cluster distances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2139" r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11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bounded by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Three cases can give intuition of how good a cluster is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clustering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random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Silhouette coefficient is biased toward convex clusters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7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786912" y="896079"/>
            <a:ext cx="5071712" cy="5698998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Silhouette coefficients </a:t>
            </a:r>
            <a:r>
              <a:rPr lang="en-US" dirty="0">
                <a:latin typeface="+mn-lt"/>
              </a:rPr>
              <a:t>can be graphed for small number of samples</a:t>
            </a:r>
          </a:p>
          <a:p>
            <a:r>
              <a:rPr lang="en-US" dirty="0">
                <a:latin typeface="+mn-lt"/>
              </a:rPr>
              <a:t>Plot shows how compact and well separated the clusters are</a:t>
            </a:r>
          </a:p>
          <a:p>
            <a:r>
              <a:rPr lang="en-US" dirty="0">
                <a:latin typeface="+mn-lt"/>
              </a:rPr>
              <a:t>Negative silhouette coefficients indicate sample incorrectly clustered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71C62-EE92-4E8D-853B-933BDF241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41" y="896079"/>
            <a:ext cx="5504959" cy="572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5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F79B-16E2-3FA9-EE4D-391CBB65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D16F-7977-CC2B-572C-5DA1332E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Summarize with the </a:t>
                </a:r>
                <a:r>
                  <a:rPr lang="en-US" b="1" dirty="0">
                    <a:latin typeface="+mn-lt"/>
                  </a:rPr>
                  <a:t>silhouette index</a:t>
                </a:r>
                <a:r>
                  <a:rPr lang="en-US" dirty="0">
                    <a:latin typeface="+mn-lt"/>
                  </a:rPr>
                  <a:t>, the mean of the coefficients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observations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Higher silhouette index indicates better separated and more compact clusters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47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 err="1">
                    <a:latin typeface="+mn-lt"/>
                    <a:hlinkClick r:id="rId3"/>
                  </a:rPr>
                  <a:t>Calinski-Harabasz</a:t>
                </a:r>
                <a:r>
                  <a:rPr lang="en-US" b="1" dirty="0">
                    <a:latin typeface="+mn-lt"/>
                    <a:hlinkClick r:id="rId3"/>
                  </a:rPr>
                  <a:t> index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variance ratio criteria </a:t>
                </a:r>
                <a:r>
                  <a:rPr lang="en-US" dirty="0">
                    <a:latin typeface="+mn-lt"/>
                  </a:rPr>
                  <a:t>measure the ratio between the cluster compactness and separation</a:t>
                </a:r>
              </a:p>
              <a:p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the adjusted ratio of the BCSS and WCSS </a:t>
                </a:r>
              </a:p>
              <a:p>
                <a:r>
                  <a:rPr lang="en-US" dirty="0">
                    <a:latin typeface="+mn-lt"/>
                  </a:rPr>
                  <a:t>Starting with the WCSS matrix and the BCSS matrix, the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a degree of freedom adjusted ratio of the matrix trace (sum of diagonal)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𝐶𝐻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larger the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the higher the ratio of cluster separation to cluster compactness.</a:t>
                </a:r>
              </a:p>
              <a:p>
                <a:r>
                  <a:rPr lang="en-US" dirty="0">
                    <a:latin typeface="+mn-lt"/>
                  </a:rPr>
                  <a:t>Since it is based on variance measures,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b="1" dirty="0">
                    <a:latin typeface="+mn-lt"/>
                  </a:rPr>
                  <a:t>only valid for convex clusters in Euclidean spaces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3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2D1D-E8B8-DC17-168B-004D21D5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049F-282F-C1D6-6C03-72900760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Davies-Bouldin index is the average ratio of the dispersion (inertia) within clusters and distance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index for a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 is the mean of the maximum scores of each cluster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More compact and better separated clusters have smaller Davies-Bouldin index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1604" r="-1481" b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49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52CA-3EA4-0F0F-D76A-D89F0813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2DF2-1940-080D-541F-64F5E07C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In principle, we can use any similarity and distance metric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Euclidean,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 err="1">
                    <a:latin typeface="+mn-lt"/>
                  </a:rPr>
                  <a:t>Manhatan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Cosine</a:t>
                </a:r>
              </a:p>
              <a:p>
                <a:pPr lvl="1"/>
                <a:r>
                  <a:rPr lang="en-US" dirty="0">
                    <a:latin typeface="+mn-lt"/>
                  </a:rPr>
                  <a:t>Etc.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+mn-lt"/>
                        <a:hlinkClick r:id="rId4"/>
                      </a:rPr>
                      <m:t>𝑆𝑐𝑖𝑘𝑖𝑡</m:t>
                    </m:r>
                    <m:r>
                      <a:rPr lang="en-US" i="1" dirty="0" smtClean="0">
                        <a:latin typeface="+mn-lt"/>
                        <a:hlinkClick r:id="rId4"/>
                      </a:rPr>
                      <m:t>−</m:t>
                    </m:r>
                    <m:r>
                      <a:rPr lang="en-US" i="1" dirty="0" smtClean="0">
                        <a:latin typeface="+mn-lt"/>
                        <a:hlinkClick r:id="rId4"/>
                      </a:rPr>
                      <m:t>𝐿𝑒𝑎𝑛</m:t>
                    </m:r>
                  </m:oMath>
                </a14:m>
                <a:r>
                  <a:rPr lang="en-US" dirty="0">
                    <a:latin typeface="+mn-lt"/>
                  </a:rPr>
                  <a:t> only supports Euclidean Davies-Bouldin index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94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ABB3-B084-6536-1703-6716B432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26CF-31DC-48E8-6E69-CBE418DF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Example, 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several </a:t>
                </a:r>
                <a:r>
                  <a:rPr lang="en-US" b="1" dirty="0">
                    <a:latin typeface="+mn-lt"/>
                  </a:rPr>
                  <a:t>metric distances </a:t>
                </a:r>
                <a:r>
                  <a:rPr lang="en-US" dirty="0">
                    <a:latin typeface="+mn-lt"/>
                  </a:rPr>
                  <a:t>as follows:</a:t>
                </a:r>
              </a:p>
              <a:p>
                <a:pPr lvl="1"/>
                <a:r>
                  <a:rPr lang="en-US" dirty="0">
                    <a:latin typeface="+mn-lt"/>
                  </a:rPr>
                  <a:t>Where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moment (inertia) of a cluster comprising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vectors,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with centroid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And the Minkowski distance between the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+mn-lt"/>
                  </a:rPr>
                  <a:t> is based on the differences between the components of the centroids,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⌊"/>
                                          <m:endChr m:val="⌋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1604" r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00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  <a:p>
            <a:r>
              <a:rPr lang="en-US" dirty="0">
                <a:latin typeface="+mn-lt"/>
              </a:rPr>
              <a:t>Knee in WCSS and BCSS –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not very reliable!</a:t>
            </a:r>
          </a:p>
          <a:p>
            <a:r>
              <a:rPr lang="en-US" dirty="0">
                <a:latin typeface="+mn-lt"/>
              </a:rPr>
              <a:t>Max of silhouette index</a:t>
            </a:r>
          </a:p>
          <a:p>
            <a:r>
              <a:rPr lang="en-US" dirty="0">
                <a:latin typeface="+mn-lt"/>
              </a:rPr>
              <a:t>Max of </a:t>
            </a:r>
            <a:r>
              <a:rPr lang="en-US" dirty="0" err="1">
                <a:latin typeface="+mn-lt"/>
              </a:rPr>
              <a:t>Calinski-Harabasz</a:t>
            </a:r>
            <a:r>
              <a:rPr lang="en-US" dirty="0">
                <a:latin typeface="+mn-lt"/>
              </a:rPr>
              <a:t> index</a:t>
            </a:r>
          </a:p>
          <a:p>
            <a:r>
              <a:rPr lang="en-US" dirty="0">
                <a:latin typeface="+mn-lt"/>
              </a:rPr>
              <a:t>Min of the Davies-Bouldin index </a:t>
            </a:r>
          </a:p>
          <a:p>
            <a:r>
              <a:rPr lang="en-US" dirty="0">
                <a:latin typeface="+mn-lt"/>
              </a:rPr>
              <a:t>There is stochastic variation </a:t>
            </a:r>
          </a:p>
          <a:p>
            <a:pPr lvl="1"/>
            <a:r>
              <a:rPr lang="en-US" dirty="0">
                <a:latin typeface="+mn-lt"/>
              </a:rPr>
              <a:t>Must compare several methods </a:t>
            </a:r>
          </a:p>
          <a:p>
            <a:pPr lvl="1"/>
            <a:r>
              <a:rPr lang="en-US" dirty="0">
                <a:latin typeface="+mn-lt"/>
              </a:rPr>
              <a:t>Metrics may not agree</a:t>
            </a:r>
          </a:p>
          <a:p>
            <a:pPr lvl="1"/>
            <a:r>
              <a:rPr lang="en-US" dirty="0">
                <a:latin typeface="+mn-lt"/>
              </a:rPr>
              <a:t>May need to try several models </a:t>
            </a:r>
          </a:p>
          <a:p>
            <a:r>
              <a:rPr lang="en-US" b="1" dirty="0">
                <a:latin typeface="+mn-lt"/>
              </a:rPr>
              <a:t>Prefer simpler models – Occam’s razor!</a:t>
            </a:r>
          </a:p>
          <a:p>
            <a:r>
              <a:rPr lang="en-US" dirty="0">
                <a:solidFill>
                  <a:srgbClr val="FF0000"/>
                </a:solidFill>
                <a:latin typeface="+mn-lt"/>
              </a:rPr>
              <a:t>Too many clusters is an over-fit model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570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40991" y="861790"/>
            <a:ext cx="11106203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E4814-6326-26A8-6FEB-73BBFA629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1244154"/>
            <a:ext cx="5249166" cy="504063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7982E3-E661-0840-7F1A-379F508DF2C6}"/>
              </a:ext>
            </a:extLst>
          </p:cNvPr>
          <p:cNvSpPr txBox="1">
            <a:spLocks/>
          </p:cNvSpPr>
          <p:nvPr/>
        </p:nvSpPr>
        <p:spPr>
          <a:xfrm>
            <a:off x="512390" y="1543050"/>
            <a:ext cx="2585140" cy="2125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Typically, hard to find clear ‘knee in WCSS, 5? Or 9? Or ??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79787E-25A3-03F2-620F-771FBEA32B63}"/>
              </a:ext>
            </a:extLst>
          </p:cNvPr>
          <p:cNvSpPr txBox="1">
            <a:spLocks/>
          </p:cNvSpPr>
          <p:nvPr/>
        </p:nvSpPr>
        <p:spPr>
          <a:xfrm>
            <a:off x="357132" y="4038600"/>
            <a:ext cx="2895655" cy="1575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US" sz="2400" dirty="0">
                <a:latin typeface="+mn-lt"/>
              </a:rPr>
              <a:t>Peak of silhouette index at 5 and lower at 9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D4ED59-27F5-4071-2824-27D4F1FF76BE}"/>
              </a:ext>
            </a:extLst>
          </p:cNvPr>
          <p:cNvSpPr txBox="1">
            <a:spLocks/>
          </p:cNvSpPr>
          <p:nvPr/>
        </p:nvSpPr>
        <p:spPr>
          <a:xfrm>
            <a:off x="8576278" y="1673319"/>
            <a:ext cx="3196590" cy="1441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sz="2400" dirty="0">
                <a:latin typeface="+mn-lt"/>
              </a:rPr>
              <a:t>Minimum of Davis-Bouldin index at 5 and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BC762D-2DF2-270D-E214-0A7D97A6E131}"/>
              </a:ext>
            </a:extLst>
          </p:cNvPr>
          <p:cNvSpPr txBox="1">
            <a:spLocks/>
          </p:cNvSpPr>
          <p:nvPr/>
        </p:nvSpPr>
        <p:spPr>
          <a:xfrm>
            <a:off x="8576278" y="4103370"/>
            <a:ext cx="3103332" cy="1680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US" sz="2400" dirty="0">
                <a:latin typeface="+mn-lt"/>
              </a:rPr>
              <a:t>Value of </a:t>
            </a:r>
            <a:r>
              <a:rPr lang="en-US" sz="2400" dirty="0" err="1">
                <a:latin typeface="+mn-lt"/>
              </a:rPr>
              <a:t>Calinski-Harabasz</a:t>
            </a:r>
            <a:r>
              <a:rPr lang="en-US" sz="2400" dirty="0">
                <a:latin typeface="+mn-lt"/>
              </a:rPr>
              <a:t> index at 5 is close to peak and lower at 9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E27479E-1C49-635E-7573-C7D6C5CAC4D7}"/>
              </a:ext>
            </a:extLst>
          </p:cNvPr>
          <p:cNvSpPr txBox="1">
            <a:spLocks/>
          </p:cNvSpPr>
          <p:nvPr/>
        </p:nvSpPr>
        <p:spPr>
          <a:xfrm>
            <a:off x="1019122" y="6264464"/>
            <a:ext cx="9993684" cy="53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Despite the ambiguity, 5 clusters appears to be best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A0B5C6-99BE-5E0D-2C11-22566587486C}"/>
              </a:ext>
            </a:extLst>
          </p:cNvPr>
          <p:cNvCxnSpPr>
            <a:cxnSpLocks/>
          </p:cNvCxnSpPr>
          <p:nvPr/>
        </p:nvCxnSpPr>
        <p:spPr>
          <a:xfrm flipV="1">
            <a:off x="2994660" y="2646045"/>
            <a:ext cx="1325880" cy="800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E51C2E-F08C-8F98-90CC-4D9E6B3BDE6F}"/>
              </a:ext>
            </a:extLst>
          </p:cNvPr>
          <p:cNvCxnSpPr>
            <a:cxnSpLocks/>
          </p:cNvCxnSpPr>
          <p:nvPr/>
        </p:nvCxnSpPr>
        <p:spPr>
          <a:xfrm>
            <a:off x="2994660" y="2726055"/>
            <a:ext cx="1640205" cy="25717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E7CF76-FFCB-305C-28BF-F7825732BED9}"/>
              </a:ext>
            </a:extLst>
          </p:cNvPr>
          <p:cNvCxnSpPr>
            <a:cxnSpLocks/>
          </p:cNvCxnSpPr>
          <p:nvPr/>
        </p:nvCxnSpPr>
        <p:spPr>
          <a:xfrm flipH="1">
            <a:off x="6789420" y="2577465"/>
            <a:ext cx="2305052" cy="6515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C51C89-B648-A990-49AF-03AEB120FF9F}"/>
              </a:ext>
            </a:extLst>
          </p:cNvPr>
          <p:cNvCxnSpPr>
            <a:cxnSpLocks/>
          </p:cNvCxnSpPr>
          <p:nvPr/>
        </p:nvCxnSpPr>
        <p:spPr>
          <a:xfrm flipH="1">
            <a:off x="7218045" y="2577465"/>
            <a:ext cx="1876427" cy="70866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08108C-A900-38C4-6404-3A145810E2D8}"/>
              </a:ext>
            </a:extLst>
          </p:cNvPr>
          <p:cNvCxnSpPr>
            <a:cxnSpLocks/>
          </p:cNvCxnSpPr>
          <p:nvPr/>
        </p:nvCxnSpPr>
        <p:spPr>
          <a:xfrm flipV="1">
            <a:off x="3097530" y="3979356"/>
            <a:ext cx="960120" cy="69462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D628F4-5CF7-116B-9983-B0BA2EFCA760}"/>
              </a:ext>
            </a:extLst>
          </p:cNvPr>
          <p:cNvCxnSpPr>
            <a:cxnSpLocks/>
          </p:cNvCxnSpPr>
          <p:nvPr/>
        </p:nvCxnSpPr>
        <p:spPr>
          <a:xfrm flipV="1">
            <a:off x="3137535" y="4673978"/>
            <a:ext cx="1400175" cy="15224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D6055F-39CA-0973-23AF-194189DBC02D}"/>
              </a:ext>
            </a:extLst>
          </p:cNvPr>
          <p:cNvCxnSpPr>
            <a:cxnSpLocks/>
          </p:cNvCxnSpPr>
          <p:nvPr/>
        </p:nvCxnSpPr>
        <p:spPr>
          <a:xfrm flipH="1" flipV="1">
            <a:off x="6629400" y="3932856"/>
            <a:ext cx="2309815" cy="817244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058B1A-310D-EDB7-8FB3-A1428C31976A}"/>
              </a:ext>
            </a:extLst>
          </p:cNvPr>
          <p:cNvCxnSpPr>
            <a:cxnSpLocks/>
          </p:cNvCxnSpPr>
          <p:nvPr/>
        </p:nvCxnSpPr>
        <p:spPr>
          <a:xfrm flipH="1" flipV="1">
            <a:off x="6798048" y="4190271"/>
            <a:ext cx="2197362" cy="559829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72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Visualizing Cluster Model Results</a:t>
            </a:r>
          </a:p>
        </p:txBody>
      </p:sp>
    </p:spTree>
    <p:extLst>
      <p:ext uri="{BB962C8B-B14F-4D97-AF65-F5344CB8AC3E}">
        <p14:creationId xmlns:p14="http://schemas.microsoft.com/office/powerpoint/2010/main" val="791741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Visualization of any kind is difficult with high-dimensional data    </a:t>
            </a:r>
          </a:p>
          <a:p>
            <a:pPr lvl="1"/>
            <a:r>
              <a:rPr lang="en-US" dirty="0">
                <a:latin typeface="+mn-lt"/>
              </a:rPr>
              <a:t>Many methods possible </a:t>
            </a:r>
          </a:p>
          <a:p>
            <a:pPr lvl="1"/>
            <a:r>
              <a:rPr lang="en-US" dirty="0">
                <a:latin typeface="+mn-lt"/>
              </a:rPr>
              <a:t>Look for domain specific methods</a:t>
            </a:r>
          </a:p>
          <a:p>
            <a:r>
              <a:rPr lang="en-US" dirty="0">
                <a:latin typeface="+mn-lt"/>
              </a:rPr>
              <a:t>Scatter plot matrices between key variables  </a:t>
            </a:r>
          </a:p>
          <a:p>
            <a:pPr lvl="1"/>
            <a:r>
              <a:rPr lang="en-US" dirty="0">
                <a:latin typeface="+mn-lt"/>
              </a:rPr>
              <a:t>Useful for low-dimensional data</a:t>
            </a:r>
          </a:p>
          <a:p>
            <a:pPr lvl="1"/>
            <a:r>
              <a:rPr lang="en-US" dirty="0">
                <a:latin typeface="+mn-lt"/>
              </a:rPr>
              <a:t>Impossible to see and understand for high-dimensional data  </a:t>
            </a:r>
          </a:p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Display a low-dimensional manifold projection of the high-dimensional cluster assignments 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02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30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C51FA-8D1D-37C1-2AD6-D3B2BA2BDA0B}"/>
              </a:ext>
            </a:extLst>
          </p:cNvPr>
          <p:cNvSpPr txBox="1">
            <a:spLocks/>
          </p:cNvSpPr>
          <p:nvPr/>
        </p:nvSpPr>
        <p:spPr>
          <a:xfrm>
            <a:off x="647647" y="1570167"/>
            <a:ext cx="4306738" cy="5011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Side by side violin plots are an excellent tool for this purpose</a:t>
            </a:r>
          </a:p>
          <a:p>
            <a:r>
              <a:rPr lang="en-US" dirty="0">
                <a:latin typeface="+mn-lt"/>
              </a:rPr>
              <a:t>Compare </a:t>
            </a:r>
            <a:r>
              <a:rPr lang="en-US" b="1" dirty="0">
                <a:latin typeface="+mn-lt"/>
              </a:rPr>
              <a:t>kernel density estimates (KDE) </a:t>
            </a:r>
            <a:r>
              <a:rPr lang="en-US" dirty="0">
                <a:latin typeface="+mn-lt"/>
              </a:rPr>
              <a:t>of variables by cluster assignment </a:t>
            </a:r>
          </a:p>
          <a:p>
            <a:r>
              <a:rPr lang="en-US" dirty="0">
                <a:latin typeface="+mn-lt"/>
              </a:rPr>
              <a:t>Includes box plot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65A5F-7958-3CDA-2B05-85AFFF377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72" y="1427034"/>
            <a:ext cx="5068203" cy="36121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041622-E679-6608-2959-7C55CE36E4A5}"/>
              </a:ext>
            </a:extLst>
          </p:cNvPr>
          <p:cNvSpPr txBox="1">
            <a:spLocks/>
          </p:cNvSpPr>
          <p:nvPr/>
        </p:nvSpPr>
        <p:spPr>
          <a:xfrm>
            <a:off x="5033910" y="4947660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Mirrored KDE with normalized areas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D88EB0-7786-B7BE-DE52-B89D4F2A54D1}"/>
              </a:ext>
            </a:extLst>
          </p:cNvPr>
          <p:cNvSpPr txBox="1">
            <a:spLocks/>
          </p:cNvSpPr>
          <p:nvPr/>
        </p:nvSpPr>
        <p:spPr>
          <a:xfrm>
            <a:off x="10163942" y="5055352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Box plot showing median and quartiles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21C037-1F15-0C43-1A3F-8919CC45D8BF}"/>
              </a:ext>
            </a:extLst>
          </p:cNvPr>
          <p:cNvCxnSpPr/>
          <p:nvPr/>
        </p:nvCxnSpPr>
        <p:spPr>
          <a:xfrm flipV="1">
            <a:off x="5967413" y="3938588"/>
            <a:ext cx="261937" cy="100907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0D4A7A-2022-E0FA-771F-A55EAF2CC84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16036" y="3236422"/>
            <a:ext cx="1383764" cy="181893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0A9602-37AC-82DC-5B9E-527C134D07B1}"/>
              </a:ext>
            </a:extLst>
          </p:cNvPr>
          <p:cNvSpPr txBox="1">
            <a:spLocks/>
          </p:cNvSpPr>
          <p:nvPr/>
        </p:nvSpPr>
        <p:spPr>
          <a:xfrm>
            <a:off x="7447226" y="5212642"/>
            <a:ext cx="2149217" cy="15310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Multi-modal distributions invisible in boxplots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C9E2C0-1977-35DF-56DB-DD8FA1A6EAC2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8074000" y="4039007"/>
            <a:ext cx="447835" cy="117363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58835-93D1-0E1A-76F5-651D038510E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8521835" y="4145887"/>
            <a:ext cx="447906" cy="106675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77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Display a </a:t>
            </a:r>
            <a:r>
              <a:rPr lang="en-US" b="1" dirty="0">
                <a:latin typeface="+mn-lt"/>
              </a:rPr>
              <a:t>low-dimensional manifold projection</a:t>
            </a:r>
            <a:r>
              <a:rPr lang="en-US" dirty="0">
                <a:latin typeface="+mn-lt"/>
              </a:rPr>
              <a:t> of the high-dimensional cluster assignments </a:t>
            </a:r>
          </a:p>
          <a:p>
            <a:r>
              <a:rPr lang="en-US" dirty="0">
                <a:latin typeface="+mn-lt"/>
              </a:rPr>
              <a:t>A </a:t>
            </a:r>
            <a:r>
              <a:rPr lang="en-US" b="1" dirty="0">
                <a:latin typeface="+mn-lt"/>
              </a:rPr>
              <a:t>manifold is a low-dimensional surface in a high-dimensional space</a:t>
            </a:r>
            <a:r>
              <a:rPr lang="en-US" dirty="0">
                <a:latin typeface="+mn-lt"/>
              </a:rPr>
              <a:t>  </a:t>
            </a:r>
          </a:p>
          <a:p>
            <a:r>
              <a:rPr lang="en-US" b="1" dirty="0">
                <a:latin typeface="+mn-lt"/>
              </a:rPr>
              <a:t>Principle Component Analysis (PCA) </a:t>
            </a:r>
            <a:r>
              <a:rPr lang="en-US" dirty="0">
                <a:latin typeface="+mn-lt"/>
              </a:rPr>
              <a:t>is only useful for Euclidean spaces</a:t>
            </a:r>
          </a:p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pPr lvl="1"/>
            <a:r>
              <a:rPr lang="en-US" dirty="0">
                <a:latin typeface="+mn-lt"/>
              </a:rPr>
              <a:t>Finds the best low-dimensional projection of a high-dimensional space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distances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marginal probability distributions  </a:t>
            </a:r>
          </a:p>
          <a:p>
            <a:pPr lvl="1"/>
            <a:r>
              <a:rPr lang="en-US" dirty="0">
                <a:latin typeface="+mn-lt"/>
              </a:rPr>
              <a:t>Defined for </a:t>
            </a:r>
            <a:r>
              <a:rPr lang="en-US" b="1" dirty="0">
                <a:latin typeface="+mn-lt"/>
              </a:rPr>
              <a:t>most distance measures   </a:t>
            </a:r>
          </a:p>
          <a:p>
            <a:r>
              <a:rPr lang="en-US" dirty="0">
                <a:latin typeface="+mn-lt"/>
              </a:rPr>
              <a:t>We will explore manifold learning further in a subsequent lesson</a:t>
            </a:r>
          </a:p>
          <a:p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2" y="1870601"/>
            <a:ext cx="4420469" cy="4901184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r>
              <a:rPr lang="en-US" dirty="0">
                <a:latin typeface="+mn-lt"/>
              </a:rPr>
              <a:t>UMAP can project cluster assignments on a 2-dimensional space </a:t>
            </a:r>
          </a:p>
          <a:p>
            <a:r>
              <a:rPr lang="en-US" dirty="0">
                <a:latin typeface="+mn-lt"/>
              </a:rPr>
              <a:t>Aids in visualization of cluster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390DF6-9C79-892F-0265-1706CE8D8A41}"/>
              </a:ext>
            </a:extLst>
          </p:cNvPr>
          <p:cNvSpPr txBox="1">
            <a:spLocks/>
          </p:cNvSpPr>
          <p:nvPr/>
        </p:nvSpPr>
        <p:spPr>
          <a:xfrm>
            <a:off x="752421" y="896079"/>
            <a:ext cx="11106203" cy="530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+mn-lt"/>
              </a:rPr>
              <a:t>How can we visualize the results of a cluster model?</a:t>
            </a:r>
          </a:p>
          <a:p>
            <a:pPr lvl="1"/>
            <a:endParaRPr lang="en-US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DAE4F-2C3D-C6B4-F75D-75AAC788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897" y="1570167"/>
            <a:ext cx="6547762" cy="43077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2F2051-6A46-90E7-EDB2-B05CDC78514E}"/>
              </a:ext>
            </a:extLst>
          </p:cNvPr>
          <p:cNvSpPr txBox="1">
            <a:spLocks/>
          </p:cNvSpPr>
          <p:nvPr/>
        </p:nvSpPr>
        <p:spPr>
          <a:xfrm>
            <a:off x="5434149" y="5961921"/>
            <a:ext cx="6424475" cy="6740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2-dimensional projection of cluster assignments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748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Mini-batch k-means</a:t>
            </a:r>
          </a:p>
        </p:txBody>
      </p:sp>
    </p:spTree>
    <p:extLst>
      <p:ext uri="{BB962C8B-B14F-4D97-AF65-F5344CB8AC3E}">
        <p14:creationId xmlns:p14="http://schemas.microsoft.com/office/powerpoint/2010/main" val="39457282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</a:rPr>
              <a:t>The basic K-means algorithm requires that all data be held in main memory at once </a:t>
            </a:r>
          </a:p>
          <a:p>
            <a:pPr lvl="1"/>
            <a:r>
              <a:rPr lang="en-US" dirty="0">
                <a:latin typeface="+mn-lt"/>
              </a:rPr>
              <a:t>Limits scalability for massive data sets  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mini-batch K-means algorithm </a:t>
            </a:r>
            <a:r>
              <a:rPr lang="en-US" dirty="0">
                <a:latin typeface="+mn-lt"/>
              </a:rPr>
              <a:t>is an alternative</a:t>
            </a:r>
          </a:p>
          <a:p>
            <a:pPr lvl="1"/>
            <a:r>
              <a:rPr lang="en-US" dirty="0">
                <a:latin typeface="+mn-lt"/>
              </a:rPr>
              <a:t>Follows same steps as standard K-means algorithm </a:t>
            </a:r>
          </a:p>
          <a:p>
            <a:pPr lvl="1"/>
            <a:r>
              <a:rPr lang="en-US" dirty="0">
                <a:latin typeface="+mn-lt"/>
              </a:rPr>
              <a:t>Updates based on </a:t>
            </a:r>
            <a:r>
              <a:rPr lang="en-US" b="1" dirty="0">
                <a:latin typeface="+mn-lt"/>
              </a:rPr>
              <a:t>repeated mini-batch (small) samples </a:t>
            </a:r>
            <a:r>
              <a:rPr lang="en-US" dirty="0">
                <a:latin typeface="+mn-lt"/>
              </a:rPr>
              <a:t>of massive data set </a:t>
            </a:r>
          </a:p>
          <a:p>
            <a:pPr lvl="1"/>
            <a:r>
              <a:rPr lang="en-US" dirty="0">
                <a:latin typeface="+mn-lt"/>
              </a:rPr>
              <a:t>Incrementally update cluster centers and membership on each mini-batch  </a:t>
            </a:r>
          </a:p>
          <a:p>
            <a:r>
              <a:rPr lang="en-US" dirty="0">
                <a:latin typeface="+mn-lt"/>
              </a:rPr>
              <a:t>Using small mini-batch samples makes </a:t>
            </a:r>
            <a:r>
              <a:rPr lang="en-US" b="1" dirty="0">
                <a:latin typeface="+mn-lt"/>
              </a:rPr>
              <a:t>updates stochastic </a:t>
            </a:r>
            <a:r>
              <a:rPr lang="en-US" dirty="0">
                <a:latin typeface="+mn-lt"/>
              </a:rPr>
              <a:t>in nature</a:t>
            </a:r>
          </a:p>
          <a:p>
            <a:pPr lvl="1"/>
            <a:r>
              <a:rPr lang="en-US" dirty="0">
                <a:latin typeface="+mn-lt"/>
              </a:rPr>
              <a:t>Convergence to result of batch (standard) algorithm on average </a:t>
            </a:r>
          </a:p>
          <a:p>
            <a:pPr lvl="1"/>
            <a:r>
              <a:rPr lang="en-US" dirty="0">
                <a:latin typeface="+mn-lt"/>
              </a:rPr>
              <a:t>Can be small differences (</a:t>
            </a:r>
            <a:r>
              <a:rPr lang="en-US" b="1" dirty="0">
                <a:latin typeface="+mn-lt"/>
              </a:rPr>
              <a:t>stochastic error</a:t>
            </a:r>
            <a:r>
              <a:rPr lang="en-US" dirty="0">
                <a:latin typeface="+mn-lt"/>
              </a:rPr>
              <a:t>) compared to batch  algorithm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042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Mini-batch k-means algorithm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Randomly Bernoulli sort the samples – use a hash at scale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Round-robin, take a mini-batch sub-sample – typically round binary number 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the cluster centers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cluster membership for members of mini-batch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Repeat 2-4 above until stopping criteria is reached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Notice the chance of repeating the mini-batch samples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In practice this does not create much bias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For large samples this generally hardly matters</a:t>
            </a: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38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Hierarchical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16978905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Are there other ways to create compact well-separated clusters? </a:t>
            </a:r>
          </a:p>
          <a:p>
            <a:r>
              <a:rPr lang="en-US" dirty="0">
                <a:latin typeface="+mn-lt"/>
              </a:rPr>
              <a:t>K-means algorithms form clusters with maximum compactness</a:t>
            </a:r>
          </a:p>
          <a:p>
            <a:pPr lvl="1"/>
            <a:r>
              <a:rPr lang="en-US" dirty="0">
                <a:latin typeface="+mn-lt"/>
              </a:rPr>
              <a:t>Clusters have minimum variance or inertia </a:t>
            </a:r>
          </a:p>
          <a:p>
            <a:r>
              <a:rPr lang="en-US" dirty="0">
                <a:latin typeface="+mn-lt"/>
              </a:rPr>
              <a:t>Hierarchical clustering algorithms create compact and well-separated clusters </a:t>
            </a:r>
          </a:p>
          <a:p>
            <a:pPr lvl="1"/>
            <a:r>
              <a:rPr lang="en-US" dirty="0">
                <a:latin typeface="+mn-lt"/>
              </a:rPr>
              <a:t>Algorithm sequentially considers groups of points</a:t>
            </a:r>
          </a:p>
          <a:p>
            <a:pPr lvl="1"/>
            <a:r>
              <a:rPr lang="en-US" dirty="0">
                <a:latin typeface="+mn-lt"/>
              </a:rPr>
              <a:t>Cluster assignments made using </a:t>
            </a:r>
            <a:r>
              <a:rPr lang="en-US" b="1" dirty="0">
                <a:latin typeface="+mn-lt"/>
              </a:rPr>
              <a:t>linkage function</a:t>
            </a:r>
          </a:p>
          <a:p>
            <a:pPr lvl="1"/>
            <a:r>
              <a:rPr lang="en-US" dirty="0">
                <a:latin typeface="+mn-lt"/>
              </a:rPr>
              <a:t>Can use </a:t>
            </a:r>
            <a:r>
              <a:rPr lang="en-US" b="1" dirty="0">
                <a:latin typeface="+mn-lt"/>
              </a:rPr>
              <a:t>any distance metric</a:t>
            </a:r>
          </a:p>
          <a:p>
            <a:r>
              <a:rPr lang="en-US" dirty="0">
                <a:latin typeface="+mn-lt"/>
              </a:rPr>
              <a:t>Create hierarchy of possible clusters</a:t>
            </a:r>
          </a:p>
          <a:p>
            <a:pPr lvl="1"/>
            <a:r>
              <a:rPr lang="en-US" dirty="0">
                <a:latin typeface="+mn-lt"/>
              </a:rPr>
              <a:t>One cluster at top with all samples</a:t>
            </a:r>
          </a:p>
          <a:p>
            <a:pPr lvl="1"/>
            <a:r>
              <a:rPr lang="en-US" dirty="0">
                <a:latin typeface="+mn-lt"/>
              </a:rPr>
              <a:t>Single sample clusters at the bottom – </a:t>
            </a:r>
            <a:r>
              <a:rPr lang="en-US" b="1" dirty="0">
                <a:latin typeface="+mn-lt"/>
              </a:rPr>
              <a:t>singletons</a:t>
            </a:r>
          </a:p>
          <a:p>
            <a:r>
              <a:rPr lang="en-US" dirty="0">
                <a:latin typeface="+mn-lt"/>
              </a:rPr>
              <a:t>Hierarchical clustering method work for </a:t>
            </a:r>
            <a:r>
              <a:rPr lang="en-US" b="1" dirty="0">
                <a:latin typeface="+mn-lt"/>
              </a:rPr>
              <a:t>most any distance metric!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0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CB7E4-20E9-70FA-A150-B359C2D1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AB3F-E81F-704A-4540-9F8508D2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 Note on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One can choose from a great number of metrics </a:t>
                </a:r>
              </a:p>
              <a:p>
                <a:r>
                  <a:rPr lang="en-US" dirty="0">
                    <a:latin typeface="+mn-lt"/>
                  </a:rPr>
                  <a:t>Distance metrics </a:t>
                </a:r>
              </a:p>
              <a:p>
                <a:pPr lvl="1"/>
                <a:r>
                  <a:rPr lang="en-US" dirty="0">
                    <a:latin typeface="+mn-lt"/>
                  </a:rPr>
                  <a:t>Euclidean,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Manhattan,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Chebyshev,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Minkowski,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Etc. </a:t>
                </a:r>
              </a:p>
              <a:p>
                <a:r>
                  <a:rPr lang="en-US" dirty="0">
                    <a:latin typeface="+mn-lt"/>
                  </a:rPr>
                  <a:t>Metrics for binary values</a:t>
                </a:r>
              </a:p>
              <a:p>
                <a:r>
                  <a:rPr lang="en-US" dirty="0">
                    <a:latin typeface="+mn-lt"/>
                  </a:rPr>
                  <a:t>Metrics for sets </a:t>
                </a:r>
              </a:p>
              <a:p>
                <a:r>
                  <a:rPr lang="en-US" dirty="0">
                    <a:latin typeface="+mn-lt"/>
                  </a:rPr>
                  <a:t>You can find a list of metrics supported by Scikit-Learn </a:t>
                </a:r>
                <a:r>
                  <a:rPr lang="en-US" dirty="0">
                    <a:latin typeface="+mn-lt"/>
                    <a:hlinkClick r:id="rId3"/>
                  </a:rPr>
                  <a:t>here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clustering models create compact clusters by creating a tree graph </a:t>
            </a:r>
          </a:p>
          <a:p>
            <a:r>
              <a:rPr lang="en-US" dirty="0">
                <a:latin typeface="+mn-lt"/>
              </a:rPr>
              <a:t>Hierarchy is a form of graph: </a:t>
            </a:r>
            <a:r>
              <a:rPr lang="en-US" b="1" dirty="0">
                <a:latin typeface="+mn-lt"/>
              </a:rPr>
              <a:t>a tree</a:t>
            </a:r>
            <a:endParaRPr lang="en-US" dirty="0"/>
          </a:p>
          <a:p>
            <a:r>
              <a:rPr lang="en-US" dirty="0">
                <a:latin typeface="+mn-lt"/>
              </a:rPr>
              <a:t>Tree graph has </a:t>
            </a:r>
            <a:r>
              <a:rPr lang="en-US" b="1" dirty="0">
                <a:latin typeface="+mn-lt"/>
              </a:rPr>
              <a:t>no cycles </a:t>
            </a:r>
          </a:p>
          <a:p>
            <a:r>
              <a:rPr lang="en-US" dirty="0">
                <a:latin typeface="+mn-lt"/>
              </a:rPr>
              <a:t>Tree graph has </a:t>
            </a:r>
            <a:r>
              <a:rPr lang="en-US" b="1" dirty="0">
                <a:latin typeface="+mn-lt"/>
              </a:rPr>
              <a:t>binary splits on nodes </a:t>
            </a:r>
          </a:p>
          <a:p>
            <a:r>
              <a:rPr lang="en-US" dirty="0">
                <a:latin typeface="+mn-lt"/>
              </a:rPr>
              <a:t>Edge length (weight) is distance between nodes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141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Two possible approaches to hierarchical clustering</a:t>
            </a:r>
          </a:p>
          <a:p>
            <a:r>
              <a:rPr lang="en-US" b="1" dirty="0">
                <a:latin typeface="+mn-lt"/>
              </a:rPr>
              <a:t>Divisive clustering </a:t>
            </a:r>
            <a:r>
              <a:rPr lang="en-US" dirty="0">
                <a:latin typeface="+mn-lt"/>
              </a:rPr>
              <a:t>– top down</a:t>
            </a:r>
          </a:p>
          <a:p>
            <a:pPr lvl="1"/>
            <a:r>
              <a:rPr lang="en-US" dirty="0">
                <a:latin typeface="+mn-lt"/>
              </a:rPr>
              <a:t>Start will all samples in one large cluster</a:t>
            </a:r>
          </a:p>
          <a:p>
            <a:pPr lvl="1"/>
            <a:r>
              <a:rPr lang="en-US" dirty="0">
                <a:latin typeface="+mn-lt"/>
              </a:rPr>
              <a:t>Recursively split into compact clusters</a:t>
            </a:r>
          </a:p>
          <a:p>
            <a:pPr lvl="1"/>
            <a:r>
              <a:rPr lang="en-US" dirty="0">
                <a:latin typeface="+mn-lt"/>
              </a:rPr>
              <a:t>Stop when only single samples at leaves – </a:t>
            </a:r>
            <a:r>
              <a:rPr lang="en-US" b="1" dirty="0">
                <a:latin typeface="+mn-lt"/>
              </a:rPr>
              <a:t>singletons</a:t>
            </a:r>
            <a:r>
              <a:rPr lang="en-US" dirty="0">
                <a:latin typeface="+mn-lt"/>
              </a:rPr>
              <a:t>  </a:t>
            </a:r>
          </a:p>
          <a:p>
            <a:pPr lvl="1"/>
            <a:r>
              <a:rPr lang="en-US" dirty="0">
                <a:latin typeface="+mn-lt"/>
              </a:rPr>
              <a:t>Not discussed further here</a:t>
            </a:r>
          </a:p>
          <a:p>
            <a:r>
              <a:rPr lang="en-US" b="1" dirty="0">
                <a:latin typeface="+mn-lt"/>
              </a:rPr>
              <a:t>Agglomerative clustering</a:t>
            </a:r>
            <a:r>
              <a:rPr lang="en-US" dirty="0">
                <a:latin typeface="+mn-lt"/>
              </a:rPr>
              <a:t> – bottom up</a:t>
            </a:r>
          </a:p>
          <a:p>
            <a:pPr lvl="1"/>
            <a:r>
              <a:rPr lang="en-US" dirty="0">
                <a:latin typeface="+mn-lt"/>
              </a:rPr>
              <a:t>Start with each sample in an individual cluster - </a:t>
            </a:r>
            <a:r>
              <a:rPr lang="en-US" b="1" dirty="0">
                <a:latin typeface="+mn-lt"/>
              </a:rPr>
              <a:t>singletons</a:t>
            </a:r>
          </a:p>
          <a:p>
            <a:pPr lvl="1"/>
            <a:r>
              <a:rPr lang="en-US" dirty="0">
                <a:latin typeface="+mn-lt"/>
              </a:rPr>
              <a:t>Build maximumly compact clusters, until all samples in one cluster</a:t>
            </a:r>
          </a:p>
          <a:p>
            <a:pPr lvl="1"/>
            <a:r>
              <a:rPr lang="en-US" dirty="0">
                <a:latin typeface="+mn-lt"/>
              </a:rPr>
              <a:t>Forms a tree with singletons at the leaves and all samples at the root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574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Single linkage </a:t>
                </a:r>
                <a:r>
                  <a:rPr lang="en-US" dirty="0">
                    <a:latin typeface="+mn-lt"/>
                  </a:rPr>
                  <a:t>links observations to a cluster using </a:t>
                </a:r>
                <a:r>
                  <a:rPr lang="en-US" b="1" dirty="0">
                    <a:latin typeface="+mn-lt"/>
                  </a:rPr>
                  <a:t>minimum distance </a:t>
                </a:r>
                <a:r>
                  <a:rPr lang="en-US" dirty="0">
                    <a:latin typeface="+mn-lt"/>
                  </a:rPr>
                  <a:t>to a member of that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known as the </a:t>
                </a:r>
                <a:r>
                  <a:rPr lang="en-US" b="1" dirty="0">
                    <a:latin typeface="+mn-lt"/>
                  </a:rPr>
                  <a:t>nearest point algorithm </a:t>
                </a:r>
              </a:p>
              <a:p>
                <a:r>
                  <a:rPr lang="en-US" dirty="0">
                    <a:latin typeface="+mn-lt"/>
                  </a:rPr>
                  <a:t>Can combine clusters with low threshold, </a:t>
                </a:r>
                <a:r>
                  <a:rPr lang="en-US" b="1" dirty="0">
                    <a:latin typeface="+mn-lt"/>
                  </a:rPr>
                  <a:t>chaining behavior</a:t>
                </a:r>
              </a:p>
              <a:p>
                <a:r>
                  <a:rPr lang="en-US" dirty="0">
                    <a:latin typeface="+mn-lt"/>
                  </a:rPr>
                  <a:t>Often produces clusters with poor compactness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b="-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93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8DA2-68DA-4DF8-9F88-48FD521D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BD18-AD8B-375B-1E70-2FBE55C7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03C5-09BC-AA78-B2EC-986900062D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single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cluster member at minimum distance to each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distance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D4785-916B-8AE0-3D38-90A502D4875D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79B5E55-379B-37AB-10E0-D6E889E3E5D5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5397F3D-828B-5FA7-830E-6423212B8523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73DB1D1-DB8D-6E20-4C3E-9809CFF1CA75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C380C0E-3A20-FB2B-2CD5-3C5CBC35E50F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4665E17C-5C2D-9066-81D4-97045F35EAB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061AD14-71AF-190C-0810-F348F3E422DB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206E6A1-2CB1-BF2E-E10B-F8C15179E10A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4DD28BB-F662-08B7-13FF-560BD73215E4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A03ED12-8A14-67EA-288C-3598641AF646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83B2295-D72E-21BD-0EBC-8C8A2B98DB2E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84C6F71-490A-E250-16F3-80591B7CA78C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7BD1D3D-1D18-AA63-5268-C5AB4214456C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C5B1D5-3F8E-8ABF-5387-35CCDC38E0B4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070462-FB65-DC19-67A3-92C122DEE1CF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E5C9D3-2E00-7880-AB41-B5BEA3D1FA66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2FB155-E4A1-3003-E461-097DBF90811C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E518C9-0C3E-D480-8969-A20459BD4E18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BFA6E4-19E3-F040-CEE2-CC8598FDB62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2E4A5681-92D1-58D2-5FF3-B2857FAEDD0F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7268E1-7114-2411-6270-79FBEC3B449B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2332074" y="3278275"/>
            <a:ext cx="77071" cy="6823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AD41B2-C892-8B1D-4594-7F3BFD26231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538024" y="2480930"/>
            <a:ext cx="1204636" cy="53929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423FB62-9439-804F-BCF4-7BEC679E2558}"/>
              </a:ext>
            </a:extLst>
          </p:cNvPr>
          <p:cNvCxnSpPr>
            <a:cxnSpLocks/>
            <a:stCxn id="24" idx="3"/>
            <a:endCxn id="4" idx="3"/>
          </p:cNvCxnSpPr>
          <p:nvPr/>
        </p:nvCxnSpPr>
        <p:spPr>
          <a:xfrm flipH="1" flipV="1">
            <a:off x="2549390" y="3149249"/>
            <a:ext cx="1589003" cy="16383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73B585F-8CBB-F32A-8015-29CB152D365B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4" grpId="0" animBg="1"/>
      <p:bldP spid="4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Complete linkage </a:t>
                </a:r>
                <a:r>
                  <a:rPr lang="en-US" dirty="0">
                    <a:latin typeface="+mn-lt"/>
                  </a:rPr>
                  <a:t>uses the </a:t>
                </a:r>
                <a:r>
                  <a:rPr lang="en-US" b="1" dirty="0">
                    <a:latin typeface="+mn-lt"/>
                  </a:rPr>
                  <a:t>maximum distance </a:t>
                </a:r>
                <a:r>
                  <a:rPr lang="en-US" dirty="0">
                    <a:latin typeface="+mn-lt"/>
                  </a:rPr>
                  <a:t>between resulting clusters to determine membership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li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 as the </a:t>
                </a:r>
                <a:r>
                  <a:rPr lang="en-US" b="1" dirty="0">
                    <a:latin typeface="+mn-lt"/>
                  </a:rPr>
                  <a:t>furthest point algorithm </a:t>
                </a:r>
              </a:p>
              <a:p>
                <a:r>
                  <a:rPr lang="en-US" dirty="0">
                    <a:latin typeface="+mn-lt"/>
                  </a:rPr>
                  <a:t>Creates </a:t>
                </a:r>
                <a:r>
                  <a:rPr lang="en-US" b="1" dirty="0">
                    <a:latin typeface="+mn-lt"/>
                  </a:rPr>
                  <a:t>compact clusters</a:t>
                </a:r>
              </a:p>
              <a:p>
                <a:r>
                  <a:rPr lang="en-US" dirty="0">
                    <a:latin typeface="+mn-lt"/>
                  </a:rPr>
                  <a:t>May have poor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635" b="-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4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D6BE-249E-2B41-C87A-6D36B28A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48C9-5CFA-4ECB-6A56-9B37AE34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8B24-FA30-B19D-FDD0-C63AADDEA2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complete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maximum distances to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of the maximum distances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BC0F3-794E-6630-2748-8B04AA1BED75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DAEA02C-57F1-B269-CF81-A3E3560CEFA0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27E63FA-BC59-BE8A-6A99-0AC6768D6BFE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F8B0A03-557C-061E-F257-1C7D15D335FD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7BBEB2C-CC58-3388-8EBB-2BA459FCE094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E56213B-3EA5-017F-7E1B-56A6B3DC632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287F134-E2B6-985D-C541-B08ACEB119EC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6646A2C-4B8D-9672-622B-6C612F01B4B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3E2E3E4-3711-7336-5AC8-7BD9EC1EBAAB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A2197C5-02FC-6CB7-D8AA-548E5C2B5EE4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4A900F2-3909-CE62-EABE-B5F8F50A1703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F939AD1-DFE0-3378-B6F1-92D16EF7B897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1659B13-30D7-6491-EB66-BE1B9ACB4B0A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B1CE41-B2E2-E73B-8A53-DB8556F38AB1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CC720D-244A-4C46-0226-77D27311A428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7718E8-10A3-D089-3197-DFECC3A47848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77D35F-FE61-799D-65DD-D8FB5C8F955E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8AEE0D-D0B8-3770-E66F-D5E6235598C0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583EF82-D9A1-AA76-3B27-E2C9B94AFB0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B711592-FD92-B19B-10A7-D85C99CBF678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AD7953-649D-2C82-DA5F-51335AC0ED42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flipH="1">
            <a:off x="2549390" y="2234609"/>
            <a:ext cx="2648159" cy="9146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16867A-585D-BE63-4F5A-E5610400D931}"/>
              </a:ext>
            </a:extLst>
          </p:cNvPr>
          <p:cNvCxnSpPr>
            <a:cxnSpLocks/>
            <a:stCxn id="21" idx="0"/>
            <a:endCxn id="5" idx="2"/>
          </p:cNvCxnSpPr>
          <p:nvPr/>
        </p:nvCxnSpPr>
        <p:spPr>
          <a:xfrm flipV="1">
            <a:off x="1993605" y="3278275"/>
            <a:ext cx="415540" cy="146561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217704-27DC-063A-4313-6426D63A1B6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49390" y="3149249"/>
            <a:ext cx="2812964" cy="17088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E20D4A24-800F-19EF-C19E-0343C0660E25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5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5" grpId="0" animBg="1"/>
      <p:bldP spid="3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</a:rPr>
                  <a:t>Average linkage </a:t>
                </a:r>
                <a:r>
                  <a:rPr lang="en-US" dirty="0">
                    <a:latin typeface="+mn-lt"/>
                  </a:rPr>
                  <a:t>links members to clusters using </a:t>
                </a:r>
                <a:r>
                  <a:rPr lang="en-US" b="1" dirty="0">
                    <a:latin typeface="+mn-lt"/>
                  </a:rPr>
                  <a:t>minimum average distance between members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Tries to </a:t>
                </a:r>
                <a:r>
                  <a:rPr lang="en-US" b="1" dirty="0">
                    <a:latin typeface="+mn-lt"/>
                  </a:rPr>
                  <a:t>balance compactness and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3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b="1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 r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44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Ward’s method </a:t>
                </a:r>
                <a:r>
                  <a:rPr lang="en-US" dirty="0">
                    <a:latin typeface="+mn-lt"/>
                  </a:rPr>
                  <a:t>forms links to minimize </a:t>
                </a:r>
                <a:r>
                  <a:rPr lang="en-US" b="1" dirty="0">
                    <a:latin typeface="+mn-lt"/>
                  </a:rPr>
                  <a:t>within cluster sum of squares (WCSS)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Only defined for Euclidian space!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5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1B70-B03E-DB3C-E83A-A56056D9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F7BF-668C-A6B5-0604-D4393F0E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4997-0D58-46E7-2C30-0B56907FA2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Start with data points in a 2-dimensional Euclidian space</a:t>
            </a:r>
          </a:p>
          <a:p>
            <a:r>
              <a:rPr lang="en-US" dirty="0">
                <a:latin typeface="+mn-lt"/>
              </a:rPr>
              <a:t>Use </a:t>
            </a:r>
            <a:r>
              <a:rPr lang="en-US" b="1" dirty="0">
                <a:latin typeface="+mn-lt"/>
              </a:rPr>
              <a:t>Euclidean distance </a:t>
            </a:r>
            <a:r>
              <a:rPr lang="en-US" dirty="0">
                <a:latin typeface="+mn-lt"/>
              </a:rPr>
              <a:t>and </a:t>
            </a:r>
            <a:r>
              <a:rPr lang="en-US" b="1" dirty="0">
                <a:latin typeface="+mn-lt"/>
              </a:rPr>
              <a:t>average linkage </a:t>
            </a:r>
            <a:r>
              <a:rPr lang="en-US" dirty="0">
                <a:latin typeface="+mn-lt"/>
              </a:rPr>
              <a:t>to find the first points to link –the leaves of the hierarchy   </a:t>
            </a:r>
          </a:p>
          <a:p>
            <a:r>
              <a:rPr lang="en-US" dirty="0">
                <a:latin typeface="+mn-lt"/>
              </a:rPr>
              <a:t>Continue to link points into clusters</a:t>
            </a:r>
          </a:p>
          <a:p>
            <a:r>
              <a:rPr lang="en-US" dirty="0">
                <a:latin typeface="+mn-lt"/>
              </a:rPr>
              <a:t>At termination of algorithm all points are linked at root of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058D1-A42C-DEE5-3FFD-FCB27DEF8169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8B16B7B-5039-28D6-F54C-24829BEAC81C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4884BAF-704B-E232-F110-FFECE2D48398}"/>
              </a:ext>
            </a:extLst>
          </p:cNvPr>
          <p:cNvSpPr/>
          <p:nvPr/>
        </p:nvSpPr>
        <p:spPr>
          <a:xfrm>
            <a:off x="1082749" y="1715386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AEF4A58-C7B2-CDC1-911E-BF746AB9AE12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8B29DB6-E5C9-E658-CAB5-CA2AD0912EAC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41A32F7-A94B-8FFA-F455-56016C7103D8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E14BF55-BE14-B381-6805-36EC11816D9F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210DE9C-2A29-1DC4-2F5B-D610D66C5834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F422B3C-E166-4B2A-7B3A-5DA9C947AAD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ED86413-59CE-9D72-68C6-D4EC4E6238AE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9FD8C77-B351-5693-697D-60EF0F125624}"/>
              </a:ext>
            </a:extLst>
          </p:cNvPr>
          <p:cNvSpPr/>
          <p:nvPr/>
        </p:nvSpPr>
        <p:spPr>
          <a:xfrm>
            <a:off x="1663995" y="322343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D8910B64-2414-B94E-4B52-CFCC177F9B9D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BE2A29A-EA23-A517-0C6F-B397A064CCF8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C38D5C3-5B27-2DCC-A80E-3FFD30999ABE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A48440C-E963-5AA7-03F2-38C64CF5A2C8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3B6123-DD8B-01A9-4587-11471A1AB0A6}"/>
              </a:ext>
            </a:extLst>
          </p:cNvPr>
          <p:cNvSpPr/>
          <p:nvPr/>
        </p:nvSpPr>
        <p:spPr>
          <a:xfrm rot="2748099">
            <a:off x="5061689" y="4596361"/>
            <a:ext cx="679303" cy="898451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5772EB-0D92-94D0-AE29-55AED5987120}"/>
              </a:ext>
            </a:extLst>
          </p:cNvPr>
          <p:cNvSpPr txBox="1"/>
          <p:nvPr/>
        </p:nvSpPr>
        <p:spPr>
          <a:xfrm>
            <a:off x="5419060" y="5289890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7C273B-8EB8-E255-A94B-93D2281CA2D3}"/>
              </a:ext>
            </a:extLst>
          </p:cNvPr>
          <p:cNvSpPr/>
          <p:nvPr/>
        </p:nvSpPr>
        <p:spPr>
          <a:xfrm rot="2748099">
            <a:off x="4765879" y="2577123"/>
            <a:ext cx="679303" cy="972835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B9D923-72CA-F729-A13B-460B4BB07E94}"/>
              </a:ext>
            </a:extLst>
          </p:cNvPr>
          <p:cNvSpPr txBox="1"/>
          <p:nvPr/>
        </p:nvSpPr>
        <p:spPr>
          <a:xfrm>
            <a:off x="5362354" y="303877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B03CEFA-C878-330A-0AB8-20CF6F1F9DD7}"/>
              </a:ext>
            </a:extLst>
          </p:cNvPr>
          <p:cNvSpPr/>
          <p:nvPr/>
        </p:nvSpPr>
        <p:spPr>
          <a:xfrm rot="1076793">
            <a:off x="4748591" y="2011132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EF1B2C-F540-63D9-5EE0-75A67E586557}"/>
              </a:ext>
            </a:extLst>
          </p:cNvPr>
          <p:cNvSpPr txBox="1"/>
          <p:nvPr/>
        </p:nvSpPr>
        <p:spPr>
          <a:xfrm>
            <a:off x="5500100" y="2025963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165071-8245-7308-F822-6BF468B66541}"/>
              </a:ext>
            </a:extLst>
          </p:cNvPr>
          <p:cNvSpPr/>
          <p:nvPr/>
        </p:nvSpPr>
        <p:spPr>
          <a:xfrm rot="1076793">
            <a:off x="1788226" y="3758504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EA0B81-49B8-628F-2B30-C23F8A178A5F}"/>
              </a:ext>
            </a:extLst>
          </p:cNvPr>
          <p:cNvSpPr txBox="1"/>
          <p:nvPr/>
        </p:nvSpPr>
        <p:spPr>
          <a:xfrm>
            <a:off x="2151204" y="504204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5DEB94B-205B-433E-6493-F3279C6E6A20}"/>
              </a:ext>
            </a:extLst>
          </p:cNvPr>
          <p:cNvSpPr/>
          <p:nvPr/>
        </p:nvSpPr>
        <p:spPr>
          <a:xfrm rot="20858507">
            <a:off x="4336290" y="1393826"/>
            <a:ext cx="1069850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F3CAFC-4D5D-907F-3A76-97AE78C72BA9}"/>
              </a:ext>
            </a:extLst>
          </p:cNvPr>
          <p:cNvSpPr txBox="1"/>
          <p:nvPr/>
        </p:nvSpPr>
        <p:spPr>
          <a:xfrm>
            <a:off x="4901609" y="1355049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889B28-463D-A5C1-1B68-CE90AAA72F11}"/>
              </a:ext>
            </a:extLst>
          </p:cNvPr>
          <p:cNvSpPr/>
          <p:nvPr/>
        </p:nvSpPr>
        <p:spPr>
          <a:xfrm rot="17699973">
            <a:off x="1110904" y="3493818"/>
            <a:ext cx="1422421" cy="169484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1424B7-BA91-21F3-B837-0FE9798ADF90}"/>
              </a:ext>
            </a:extLst>
          </p:cNvPr>
          <p:cNvSpPr txBox="1"/>
          <p:nvPr/>
        </p:nvSpPr>
        <p:spPr>
          <a:xfrm>
            <a:off x="766402" y="351979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6034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uiExpand="1" animBg="1"/>
      <p:bldP spid="10" grpId="0" uiExpand="1" animBg="1"/>
      <p:bldP spid="11" grpId="0" uiExpand="1" animBg="1"/>
      <p:bldP spid="12" grpId="0" uiExpand="1" animBg="1"/>
      <p:bldP spid="13" grpId="0" uiExpand="1" animBg="1"/>
      <p:bldP spid="14" grpId="0" uiExpand="1" animBg="1"/>
      <p:bldP spid="15" grpId="0" uiExpand="1" animBg="1"/>
      <p:bldP spid="16" grpId="0" uiExpand="1" animBg="1"/>
      <p:bldP spid="17" grpId="0" uiExpand="1" animBg="1"/>
      <p:bldP spid="18" grpId="0" uiExpand="1" animBg="1"/>
      <p:bldP spid="19" grpId="0" uiExpand="1" animBg="1"/>
      <p:bldP spid="20" grpId="0" uiExpand="1" animBg="1"/>
      <p:bldP spid="21" grpId="0" uiExpand="1" animBg="1"/>
      <p:bldP spid="22" grpId="0" uiExpand="1" animBg="1"/>
      <p:bldP spid="23" grpId="0" uiExpand="1" animBg="1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4" grpId="0"/>
      <p:bldP spid="35" grpId="0" animBg="1"/>
      <p:bldP spid="3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783" y="2501978"/>
            <a:ext cx="5109763" cy="175026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Choice of linkage function greatly changes clusters created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6F47D-7A89-84A2-2E6A-56D638FD92FB}"/>
              </a:ext>
            </a:extLst>
          </p:cNvPr>
          <p:cNvSpPr txBox="1"/>
          <p:nvPr/>
        </p:nvSpPr>
        <p:spPr>
          <a:xfrm>
            <a:off x="1650376" y="5712678"/>
            <a:ext cx="205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From Scikit-Learn Clustering User Guide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6EBE4-A7F1-6377-9314-48C738530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054" y="221992"/>
            <a:ext cx="6195005" cy="654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398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 creates dendrogram</a:t>
            </a:r>
          </a:p>
          <a:p>
            <a:r>
              <a:rPr lang="en-US" dirty="0">
                <a:latin typeface="+mn-lt"/>
              </a:rPr>
              <a:t>Cutting the dendrogram creates a flat cluster model</a:t>
            </a:r>
          </a:p>
          <a:p>
            <a:r>
              <a:rPr lang="en-US" dirty="0">
                <a:latin typeface="+mn-lt"/>
              </a:rPr>
              <a:t> Number of clusters determined by depth of cut point</a:t>
            </a:r>
          </a:p>
          <a:p>
            <a:r>
              <a:rPr lang="en-US" dirty="0">
                <a:latin typeface="+mn-lt"/>
              </a:rPr>
              <a:t>For example, the cut-point shown results in 6 clusters</a:t>
            </a:r>
          </a:p>
          <a:p>
            <a:r>
              <a:rPr lang="en-US" dirty="0">
                <a:latin typeface="+mn-lt"/>
              </a:rPr>
              <a:t>Or maybe 3 clusters?</a:t>
            </a:r>
          </a:p>
          <a:p>
            <a:r>
              <a:rPr lang="en-US" dirty="0">
                <a:latin typeface="+mn-lt"/>
              </a:rPr>
              <a:t>Need some domain knowledge to determine which is useful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70F07-67B1-4C70-8B9B-420BB6E9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028054"/>
            <a:ext cx="6472431" cy="547090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28F42-75C6-4940-8AEE-2C57E952CAB4}"/>
              </a:ext>
            </a:extLst>
          </p:cNvPr>
          <p:cNvCxnSpPr/>
          <p:nvPr/>
        </p:nvCxnSpPr>
        <p:spPr>
          <a:xfrm>
            <a:off x="1482671" y="3874576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51683-EFAE-4BC7-BE29-CA38970B9B51}"/>
              </a:ext>
            </a:extLst>
          </p:cNvPr>
          <p:cNvCxnSpPr/>
          <p:nvPr/>
        </p:nvCxnSpPr>
        <p:spPr>
          <a:xfrm>
            <a:off x="1521417" y="2978258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25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8638309" y="896079"/>
            <a:ext cx="3383873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dirty="0" err="1">
                <a:latin typeface="+mn-lt"/>
              </a:rPr>
              <a:t>microasay</a:t>
            </a:r>
            <a:r>
              <a:rPr lang="en-US" dirty="0">
                <a:latin typeface="+mn-lt"/>
              </a:rPr>
              <a:t> of human tumors</a:t>
            </a:r>
          </a:p>
          <a:p>
            <a:r>
              <a:rPr lang="en-US" dirty="0">
                <a:latin typeface="+mn-lt"/>
              </a:rPr>
              <a:t>The dendrograms are quite different</a:t>
            </a:r>
          </a:p>
          <a:p>
            <a:r>
              <a:rPr lang="en-US" dirty="0">
                <a:latin typeface="+mn-lt"/>
              </a:rPr>
              <a:t>Choice of linkage function creates different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07E32-7ED4-4FD8-8FF9-B3A5F1DAF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8" y="792251"/>
            <a:ext cx="8332050" cy="5314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D67F3C-531D-4AEF-818E-AF4CD48378F1}"/>
              </a:ext>
            </a:extLst>
          </p:cNvPr>
          <p:cNvSpPr txBox="1"/>
          <p:nvPr/>
        </p:nvSpPr>
        <p:spPr>
          <a:xfrm>
            <a:off x="1281953" y="6059900"/>
            <a:ext cx="4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Hastie, </a:t>
            </a:r>
            <a:r>
              <a:rPr lang="en-US" dirty="0" err="1"/>
              <a:t>Tibsheirani</a:t>
            </a:r>
            <a:r>
              <a:rPr lang="en-US" dirty="0"/>
              <a:t> and </a:t>
            </a:r>
            <a:r>
              <a:rPr lang="en-US" dirty="0" err="1"/>
              <a:t>Friedeman</a:t>
            </a:r>
            <a:r>
              <a:rPr lang="en-US" dirty="0"/>
              <a:t>, 2009</a:t>
            </a:r>
          </a:p>
        </p:txBody>
      </p:sp>
    </p:spTree>
    <p:extLst>
      <p:ext uri="{BB962C8B-B14F-4D97-AF65-F5344CB8AC3E}">
        <p14:creationId xmlns:p14="http://schemas.microsoft.com/office/powerpoint/2010/main" val="224866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Evaluating Non-Euclidean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34576032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No one best method</a:t>
                </a:r>
              </a:p>
              <a:p>
                <a:pPr lvl="1"/>
                <a:r>
                  <a:rPr lang="en-US" dirty="0">
                    <a:latin typeface="+mn-lt"/>
                  </a:rPr>
                  <a:t>Often requires some subjective judgement</a:t>
                </a:r>
              </a:p>
              <a:p>
                <a:pPr lvl="1"/>
                <a:r>
                  <a:rPr lang="en-US" dirty="0">
                    <a:latin typeface="+mn-lt"/>
                  </a:rPr>
                  <a:t>Different models may highlight different aspects of data structure</a:t>
                </a:r>
              </a:p>
              <a:p>
                <a:r>
                  <a:rPr lang="en-US" dirty="0">
                    <a:latin typeface="+mn-lt"/>
                  </a:rPr>
                  <a:t>For Euclidean distance metric use same methods as k-means clustering</a:t>
                </a:r>
              </a:p>
              <a:p>
                <a:r>
                  <a:rPr lang="en-US" dirty="0">
                    <a:latin typeface="+mn-lt"/>
                  </a:rPr>
                  <a:t>Sum of squares is meaningless in non-Euclidian spaces!</a:t>
                </a:r>
              </a:p>
              <a:p>
                <a:r>
                  <a:rPr lang="en-US" dirty="0">
                    <a:latin typeface="+mn-lt"/>
                  </a:rPr>
                  <a:t>And there is no cluster center (mean) except in Euclidean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) space</a:t>
                </a:r>
              </a:p>
              <a:p>
                <a:pPr lvl="1"/>
                <a:r>
                  <a:rPr lang="en-US" dirty="0">
                    <a:latin typeface="+mn-lt"/>
                  </a:rPr>
                  <a:t>Instead use a data point – the </a:t>
                </a:r>
                <a:r>
                  <a:rPr lang="en-US" b="1" dirty="0" err="1">
                    <a:latin typeface="+mn-lt"/>
                  </a:rPr>
                  <a:t>clusteroid</a:t>
                </a:r>
                <a:r>
                  <a:rPr lang="en-US" b="1" dirty="0">
                    <a:latin typeface="+mn-lt"/>
                  </a:rPr>
                  <a:t>,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medoid</a:t>
                </a:r>
              </a:p>
              <a:p>
                <a:pPr lvl="1"/>
                <a:r>
                  <a:rPr lang="en-US" dirty="0">
                    <a:latin typeface="+mn-lt"/>
                  </a:rPr>
                  <a:t>Radius of a cluster in non-Euclidean space is not defined!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51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Choose methods defined for any distance metric</a:t>
                </a:r>
              </a:p>
              <a:p>
                <a:r>
                  <a:rPr lang="en-US" dirty="0">
                    <a:latin typeface="+mn-lt"/>
                  </a:rPr>
                  <a:t>Can use the linkage metric for hierarchical models </a:t>
                </a:r>
              </a:p>
              <a:p>
                <a:pPr lvl="1"/>
                <a:r>
                  <a:rPr lang="en-US" dirty="0">
                    <a:latin typeface="+mn-lt"/>
                  </a:rPr>
                  <a:t>Consistent with the agglomeration criteria</a:t>
                </a:r>
              </a:p>
              <a:p>
                <a:pPr lvl="1"/>
                <a:r>
                  <a:rPr lang="en-US" dirty="0">
                    <a:latin typeface="+mn-lt"/>
                  </a:rPr>
                  <a:t>Defined for any distance measure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But is not an independent evaluation!  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 is defined for any metric </a:t>
                </a:r>
                <a:r>
                  <a:rPr lang="en-US" dirty="0">
                    <a:latin typeface="+mn-lt"/>
                  </a:rPr>
                  <a:t>and is suitable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22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06F5-6364-2515-3480-7AB27E17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6299-24BA-1A2F-2424-9036BDE3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Can measure cluster diameter or compactness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We prefer models with the globally most compact clusters possible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li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 works for models using any distance metric</a:t>
                </a:r>
                <a:endParaRPr lang="en-US" dirty="0">
                  <a:solidFill>
                    <a:srgbClr val="FF0000"/>
                  </a:solidFill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  <a:blipFill>
                <a:blip r:embed="rId3"/>
                <a:stretch>
                  <a:fillRect l="-1098" t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73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 is the normalized difference between average within and between cluster distances</a:t>
                </a:r>
              </a:p>
              <a:p>
                <a:r>
                  <a:rPr lang="en-US" dirty="0">
                    <a:latin typeface="+mn-lt"/>
                  </a:rPr>
                  <a:t>Example, use 12 or 13 clusters?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  <a:blipFill>
                <a:blip r:embed="rId3"/>
                <a:stretch>
                  <a:fillRect l="-1111" t="-3944" b="-3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12D8E68-5A0D-A4B2-EF18-B64434216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922" y="3386356"/>
            <a:ext cx="7549811" cy="344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4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9921448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Unsupervised learning methods </a:t>
            </a:r>
            <a:r>
              <a:rPr lang="en-US" sz="2800" b="1" dirty="0">
                <a:latin typeface="+mn-lt"/>
              </a:rPr>
              <a:t>learn structure of data</a:t>
            </a:r>
            <a:endParaRPr lang="en-US" b="1" dirty="0">
              <a:latin typeface="+mn-lt"/>
            </a:endParaRPr>
          </a:p>
          <a:p>
            <a:pPr lvl="1"/>
            <a:r>
              <a:rPr lang="en-US" sz="2800" dirty="0">
                <a:latin typeface="+mn-lt"/>
              </a:rPr>
              <a:t>Structure is learned by determining </a:t>
            </a:r>
            <a:r>
              <a:rPr lang="en-US" sz="2800" b="1" dirty="0">
                <a:latin typeface="+mn-lt"/>
              </a:rPr>
              <a:t>association</a:t>
            </a:r>
            <a:r>
              <a:rPr lang="en-US" sz="2800" dirty="0">
                <a:latin typeface="+mn-lt"/>
              </a:rPr>
              <a:t> between cases</a:t>
            </a:r>
          </a:p>
          <a:p>
            <a:pPr lvl="1"/>
            <a:r>
              <a:rPr lang="en-US" sz="2800" dirty="0">
                <a:latin typeface="+mn-lt"/>
              </a:rPr>
              <a:t>Association based on </a:t>
            </a:r>
            <a:r>
              <a:rPr lang="en-US" sz="2800" b="1" dirty="0">
                <a:latin typeface="+mn-lt"/>
              </a:rPr>
              <a:t>measures of proximity, distance or dissimilarity</a:t>
            </a:r>
            <a:endParaRPr lang="en-US" sz="2800" dirty="0">
              <a:latin typeface="+mn-lt"/>
            </a:endParaRP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We have already encountered feature importance as a data mining method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69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distance or dissimilarity metrics</a:t>
            </a:r>
          </a:p>
          <a:p>
            <a:pPr lvl="1"/>
            <a:r>
              <a:rPr lang="en-US" sz="2800" dirty="0">
                <a:latin typeface="+mn-lt"/>
              </a:rPr>
              <a:t>Structure based on distance metrics</a:t>
            </a:r>
          </a:p>
          <a:p>
            <a:pPr lvl="1"/>
            <a:r>
              <a:rPr lang="en-US" sz="2800" dirty="0">
                <a:latin typeface="+mn-lt"/>
              </a:rPr>
              <a:t>Different algorithms use different metrics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r>
              <a:rPr lang="en-US" dirty="0">
                <a:latin typeface="+mn-lt"/>
              </a:rPr>
              <a:t>Good clusters have two properties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We what the clusters to be small with members close to each other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We want the clusters are well separated, a closeness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508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Different models and dissimilarity metrics will give different results</a:t>
            </a:r>
          </a:p>
          <a:p>
            <a:pPr lvl="1"/>
            <a:r>
              <a:rPr lang="en-US" sz="2800" dirty="0">
                <a:latin typeface="+mn-lt"/>
              </a:rPr>
              <a:t>Dissimilarity metrics usually matter more than model 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dirty="0">
                <a:latin typeface="+mn-lt"/>
              </a:rPr>
              <a:t>Evaluation is a significant problem with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dirty="0">
                <a:latin typeface="+mn-lt"/>
              </a:rPr>
              <a:t>Evaluation is often subjective</a:t>
            </a:r>
          </a:p>
          <a:p>
            <a:r>
              <a:rPr lang="en-US" dirty="0">
                <a:latin typeface="+mn-lt"/>
              </a:rPr>
              <a:t>But, do we have to pick one best model?</a:t>
            </a:r>
          </a:p>
          <a:p>
            <a:pPr lvl="1"/>
            <a:r>
              <a:rPr lang="en-US" sz="2800" dirty="0">
                <a:latin typeface="+mn-lt"/>
              </a:rPr>
              <a:t>No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949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516" y="0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223EED3-7B46-4411-92AD-9FC6754A0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2884984"/>
                  </p:ext>
                </p:extLst>
              </p:nvPr>
            </p:nvGraphicFramePr>
            <p:xfrm>
              <a:off x="386640" y="566515"/>
              <a:ext cx="11630025" cy="612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0251">
                      <a:extLst>
                        <a:ext uri="{9D8B030D-6E8A-4147-A177-3AD203B41FA5}">
                          <a16:colId xmlns:a16="http://schemas.microsoft.com/office/drawing/2014/main" val="1757814776"/>
                        </a:ext>
                      </a:extLst>
                    </a:gridCol>
                    <a:gridCol w="2157413">
                      <a:extLst>
                        <a:ext uri="{9D8B030D-6E8A-4147-A177-3AD203B41FA5}">
                          <a16:colId xmlns:a16="http://schemas.microsoft.com/office/drawing/2014/main" val="4041575726"/>
                        </a:ext>
                      </a:extLst>
                    </a:gridCol>
                    <a:gridCol w="1746959">
                      <a:extLst>
                        <a:ext uri="{9D8B030D-6E8A-4147-A177-3AD203B41FA5}">
                          <a16:colId xmlns:a16="http://schemas.microsoft.com/office/drawing/2014/main" val="1232253116"/>
                        </a:ext>
                      </a:extLst>
                    </a:gridCol>
                    <a:gridCol w="2914650">
                      <a:extLst>
                        <a:ext uri="{9D8B030D-6E8A-4147-A177-3AD203B41FA5}">
                          <a16:colId xmlns:a16="http://schemas.microsoft.com/office/drawing/2014/main" val="774572399"/>
                        </a:ext>
                      </a:extLst>
                    </a:gridCol>
                    <a:gridCol w="2810752">
                      <a:extLst>
                        <a:ext uri="{9D8B030D-6E8A-4147-A177-3AD203B41FA5}">
                          <a16:colId xmlns:a16="http://schemas.microsoft.com/office/drawing/2014/main" val="22789821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Cluster characteristic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Characteristics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Scalability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06745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K-means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Maximizes cluster compactness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Need to find k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Assumes equal variance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low,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_+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Mini-batch high, O(n log(n))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81197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Agglomerative hierarchical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Clusters into dendrogram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low,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0" lang="en-US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kumimoji="0" lang="en-US" sz="20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low,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4668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Affinity clustering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Responsible point in cluster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Less scalable 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medium, O(n</a:t>
                          </a:r>
                          <a:r>
                            <a:rPr lang="en-US" sz="2000" baseline="30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5677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DBSCAN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Uniform density 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high, O(n log(n</a:t>
                          </a: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)), memory </a:t>
                          </a:r>
                          <a:r>
                            <a:rPr lang="en-US" sz="2000" i="1">
                              <a:latin typeface="+mn-lt"/>
                            </a:rPr>
                            <a:t>O(n</a:t>
                          </a:r>
                          <a:r>
                            <a:rPr lang="en-US" sz="2000" i="1" baseline="30000">
                              <a:latin typeface="+mn-lt"/>
                            </a:rPr>
                            <a:t>2</a:t>
                          </a:r>
                          <a:r>
                            <a:rPr lang="en-US" sz="2000" i="1">
                              <a:latin typeface="+mn-lt"/>
                            </a:rPr>
                            <a:t>) </a:t>
                          </a: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out 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of 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39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OPTICS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Variable density–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 to medium, O(n log(n)) to O(n), out of 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49949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Spectral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Minimum energy graph partition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Scalable with sparse graph -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 - O(n) to O(n log(n))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05346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223EED3-7B46-4411-92AD-9FC6754A0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2884984"/>
                  </p:ext>
                </p:extLst>
              </p:nvPr>
            </p:nvGraphicFramePr>
            <p:xfrm>
              <a:off x="386640" y="566515"/>
              <a:ext cx="11630025" cy="612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0251">
                      <a:extLst>
                        <a:ext uri="{9D8B030D-6E8A-4147-A177-3AD203B41FA5}">
                          <a16:colId xmlns:a16="http://schemas.microsoft.com/office/drawing/2014/main" val="1757814776"/>
                        </a:ext>
                      </a:extLst>
                    </a:gridCol>
                    <a:gridCol w="2157413">
                      <a:extLst>
                        <a:ext uri="{9D8B030D-6E8A-4147-A177-3AD203B41FA5}">
                          <a16:colId xmlns:a16="http://schemas.microsoft.com/office/drawing/2014/main" val="4041575726"/>
                        </a:ext>
                      </a:extLst>
                    </a:gridCol>
                    <a:gridCol w="1746959">
                      <a:extLst>
                        <a:ext uri="{9D8B030D-6E8A-4147-A177-3AD203B41FA5}">
                          <a16:colId xmlns:a16="http://schemas.microsoft.com/office/drawing/2014/main" val="1232253116"/>
                        </a:ext>
                      </a:extLst>
                    </a:gridCol>
                    <a:gridCol w="2914650">
                      <a:extLst>
                        <a:ext uri="{9D8B030D-6E8A-4147-A177-3AD203B41FA5}">
                          <a16:colId xmlns:a16="http://schemas.microsoft.com/office/drawing/2014/main" val="774572399"/>
                        </a:ext>
                      </a:extLst>
                    </a:gridCol>
                    <a:gridCol w="2810752">
                      <a:extLst>
                        <a:ext uri="{9D8B030D-6E8A-4147-A177-3AD203B41FA5}">
                          <a16:colId xmlns:a16="http://schemas.microsoft.com/office/drawing/2014/main" val="227898212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Cluster characteristic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Characteristics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Scalability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0674545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K-means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Maximizes cluster compactness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Need to find k</a:t>
                          </a:r>
                        </a:p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Assumes equal variance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317" t="-72727" r="-868" b="-45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811978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Agglomerative hierarchical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Clusters into dendrogram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505" t="-247826" r="-97077" b="-546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317" t="-247826" r="-868" b="-546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466841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Affinity clustering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Responsible point in cluster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Less scalable 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medium, O(n</a:t>
                          </a:r>
                          <a:r>
                            <a:rPr lang="en-US" sz="2000" baseline="30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567768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DBSCAN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Uniform density 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high, O(n log(n</a:t>
                          </a: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)), memory </a:t>
                          </a:r>
                          <a:r>
                            <a:rPr lang="en-US" sz="2000" i="1">
                              <a:latin typeface="+mn-lt"/>
                            </a:rPr>
                            <a:t>O(n</a:t>
                          </a:r>
                          <a:r>
                            <a:rPr lang="en-US" sz="2000" i="1" baseline="30000">
                              <a:latin typeface="+mn-lt"/>
                            </a:rPr>
                            <a:t>2</a:t>
                          </a:r>
                          <a:r>
                            <a:rPr lang="en-US" sz="2000" i="1">
                              <a:latin typeface="+mn-lt"/>
                            </a:rPr>
                            <a:t>) </a:t>
                          </a:r>
                          <a:r>
                            <a:rPr lang="en-US" sz="2000">
                              <a:solidFill>
                                <a:schemeClr val="tx1"/>
                              </a:solidFill>
                            </a:rPr>
                            <a:t>out 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of 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39939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OPTICS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Density graph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Variable density–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 to medium, O(n log(n)) to O(n), out of core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4994939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Spectral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Minimum energy graph partition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Nonconvex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Scalable with sparse graph - Finds number of clusters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High - O(n) to O(n log(n))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05346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4464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31511</TotalTime>
  <Words>4158</Words>
  <Application>Microsoft Office PowerPoint</Application>
  <PresentationFormat>Widescreen</PresentationFormat>
  <Paragraphs>682</Paragraphs>
  <Slides>70</Slides>
  <Notes>61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79" baseType="lpstr">
      <vt:lpstr>Arial</vt:lpstr>
      <vt:lpstr>Calibri</vt:lpstr>
      <vt:lpstr>Calibri Light</vt:lpstr>
      <vt:lpstr>Cambria Math</vt:lpstr>
      <vt:lpstr>Segoe UI</vt:lpstr>
      <vt:lpstr>Segoe UI Light</vt:lpstr>
      <vt:lpstr>Wingdings</vt:lpstr>
      <vt:lpstr>Office Theme</vt:lpstr>
      <vt:lpstr>1_Office Theme</vt:lpstr>
      <vt:lpstr>CSCI E-96 Data Mining, Exploration and Discovery Introduction to Clustering Models Part 1</vt:lpstr>
      <vt:lpstr>Overview, Unsupervised Learning</vt:lpstr>
      <vt:lpstr>Overview, Unsupervised Learning</vt:lpstr>
      <vt:lpstr>Overview, Unsupervised Learning</vt:lpstr>
      <vt:lpstr>Overview, Unsupervised Learning</vt:lpstr>
      <vt:lpstr>Common Properties of Cluster Models</vt:lpstr>
      <vt:lpstr>Properties of Cluster Models</vt:lpstr>
      <vt:lpstr>Properties of Cluster Models</vt:lpstr>
      <vt:lpstr>Properties of Cluster Models</vt:lpstr>
      <vt:lpstr>Properties of Cluster Models</vt:lpstr>
      <vt:lpstr>K-Means Clustering Models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Visualizing Cluster Model Results</vt:lpstr>
      <vt:lpstr>Visualizing Clustering Model Results</vt:lpstr>
      <vt:lpstr>Visualizing Clustering Model Results</vt:lpstr>
      <vt:lpstr>Visualizing Clustering Model Results</vt:lpstr>
      <vt:lpstr>Visualizing Clustering Model Results</vt:lpstr>
      <vt:lpstr>Mini-batch k-means</vt:lpstr>
      <vt:lpstr>Mini-Batch K-Means</vt:lpstr>
      <vt:lpstr>Mini-Batch K-Means</vt:lpstr>
      <vt:lpstr>Hierarchical Clustering Models</vt:lpstr>
      <vt:lpstr>Hierarchical Clustering Algorithms</vt:lpstr>
      <vt:lpstr>A Note on Metrics</vt:lpstr>
      <vt:lpstr>Hierarchical Clustering Algorithms</vt:lpstr>
      <vt:lpstr>Hierarchical Clustering Algorithms</vt:lpstr>
      <vt:lpstr>Hierarchical Clustering Algorithms</vt:lpstr>
      <vt:lpstr>Agglomerative Clustering Example</vt:lpstr>
      <vt:lpstr>Hierarchical Clustering Algorithms</vt:lpstr>
      <vt:lpstr>Agglomerative Clustering Example</vt:lpstr>
      <vt:lpstr>Hierarchical Clustering Algorithms</vt:lpstr>
      <vt:lpstr>Hierarchical Clustering Algorithms</vt:lpstr>
      <vt:lpstr>Agglomerative Clustering Example</vt:lpstr>
      <vt:lpstr>Choice of linkage function greatly changes clusters created </vt:lpstr>
      <vt:lpstr>Hierarchical Clustering</vt:lpstr>
      <vt:lpstr>Hierarchical Clustering</vt:lpstr>
      <vt:lpstr>Evaluating Non-Euclidean Cluster Models</vt:lpstr>
      <vt:lpstr>Evaluating Non-Euclidean Clustering</vt:lpstr>
      <vt:lpstr>Evaluating Non-Euclidean Clustering</vt:lpstr>
      <vt:lpstr>Evaluating Clustering Models</vt:lpstr>
      <vt:lpstr>Evaluating Non-Euclidean Clustering</vt:lpstr>
      <vt:lpstr>Summary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984</cp:revision>
  <dcterms:created xsi:type="dcterms:W3CDTF">2020-07-25T22:15:22Z</dcterms:created>
  <dcterms:modified xsi:type="dcterms:W3CDTF">2025-11-11T18:02:23Z</dcterms:modified>
</cp:coreProperties>
</file>