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4"/>
  </p:notesMasterIdLst>
  <p:sldIdLst>
    <p:sldId id="275" r:id="rId3"/>
    <p:sldId id="603" r:id="rId4"/>
    <p:sldId id="627" r:id="rId5"/>
    <p:sldId id="605" r:id="rId6"/>
    <p:sldId id="710" r:id="rId7"/>
    <p:sldId id="712" r:id="rId8"/>
    <p:sldId id="705" r:id="rId9"/>
    <p:sldId id="606" r:id="rId10"/>
    <p:sldId id="626" r:id="rId11"/>
    <p:sldId id="639" r:id="rId12"/>
    <p:sldId id="718" r:id="rId13"/>
    <p:sldId id="604" r:id="rId14"/>
    <p:sldId id="672" r:id="rId15"/>
    <p:sldId id="607" r:id="rId16"/>
    <p:sldId id="752" r:id="rId17"/>
    <p:sldId id="753" r:id="rId18"/>
    <p:sldId id="713" r:id="rId19"/>
    <p:sldId id="619" r:id="rId20"/>
    <p:sldId id="706" r:id="rId21"/>
    <p:sldId id="620" r:id="rId22"/>
    <p:sldId id="621" r:id="rId23"/>
    <p:sldId id="670" r:id="rId24"/>
    <p:sldId id="686" r:id="rId25"/>
    <p:sldId id="622" r:id="rId26"/>
    <p:sldId id="623" r:id="rId27"/>
    <p:sldId id="750" r:id="rId28"/>
    <p:sldId id="667" r:id="rId29"/>
    <p:sldId id="751" r:id="rId30"/>
    <p:sldId id="714" r:id="rId31"/>
    <p:sldId id="637" r:id="rId32"/>
    <p:sldId id="638" r:id="rId33"/>
    <p:sldId id="640" r:id="rId34"/>
    <p:sldId id="630" r:id="rId35"/>
    <p:sldId id="625" r:id="rId36"/>
    <p:sldId id="628" r:id="rId37"/>
    <p:sldId id="629" r:id="rId38"/>
    <p:sldId id="668" r:id="rId39"/>
    <p:sldId id="631" r:id="rId40"/>
    <p:sldId id="722" r:id="rId41"/>
    <p:sldId id="723" r:id="rId42"/>
    <p:sldId id="724" r:id="rId43"/>
    <p:sldId id="725" r:id="rId44"/>
    <p:sldId id="726" r:id="rId45"/>
    <p:sldId id="728" r:id="rId46"/>
    <p:sldId id="721" r:id="rId47"/>
    <p:sldId id="644" r:id="rId48"/>
    <p:sldId id="689" r:id="rId49"/>
    <p:sldId id="715" r:id="rId50"/>
    <p:sldId id="719" r:id="rId51"/>
    <p:sldId id="688" r:id="rId52"/>
    <p:sldId id="645" r:id="rId53"/>
    <p:sldId id="707" r:id="rId54"/>
    <p:sldId id="756" r:id="rId55"/>
    <p:sldId id="708" r:id="rId56"/>
    <p:sldId id="758" r:id="rId57"/>
    <p:sldId id="709" r:id="rId58"/>
    <p:sldId id="736" r:id="rId59"/>
    <p:sldId id="757" r:id="rId60"/>
    <p:sldId id="762" r:id="rId61"/>
    <p:sldId id="687" r:id="rId62"/>
    <p:sldId id="659" r:id="rId63"/>
    <p:sldId id="729" r:id="rId64"/>
    <p:sldId id="684" r:id="rId65"/>
    <p:sldId id="685" r:id="rId66"/>
    <p:sldId id="755" r:id="rId67"/>
    <p:sldId id="720" r:id="rId68"/>
    <p:sldId id="734" r:id="rId69"/>
    <p:sldId id="662" r:id="rId70"/>
    <p:sldId id="663" r:id="rId71"/>
    <p:sldId id="665" r:id="rId72"/>
    <p:sldId id="669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94" autoAdjust="0"/>
    <p:restoredTop sz="94660"/>
  </p:normalViewPr>
  <p:slideViewPr>
    <p:cSldViewPr snapToGrid="0">
      <p:cViewPr varScale="1">
        <p:scale>
          <a:sx n="67" d="100"/>
          <a:sy n="67" d="100"/>
        </p:scale>
        <p:origin x="43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64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512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6074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775BF-0227-8DF0-8E30-9539A5AF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6799A-9459-44C5-686E-1731CE2CC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22AD2E-45FF-C5DC-3902-458E35137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38DF1-B648-D0E6-8761-EB46D913C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909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E18CF-8A18-AA55-55F6-851B6F4A3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0501E-C536-101E-42CD-5941A34C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B4FD81-A9D9-DD5E-978E-327B4521D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E5167-0D3B-FA8B-A417-28A2238EF0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59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21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pi/sklearn.metrics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</a:t>
            </a:r>
            <a:r>
              <a:rPr lang="en-US" sz="1100"/>
              <a:t>, 2024, 2025,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- future lesson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 or 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metrics and models,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Distance and Similarity Measures for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1922091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Relationships in data is based on </a:t>
            </a:r>
            <a:r>
              <a:rPr lang="en-US" b="1" dirty="0">
                <a:latin typeface="+mn-lt"/>
              </a:rPr>
              <a:t>dissimilarity</a:t>
            </a:r>
            <a:r>
              <a:rPr lang="en-US" dirty="0">
                <a:latin typeface="+mn-lt"/>
              </a:rPr>
              <a:t> measured by some </a:t>
            </a:r>
            <a:r>
              <a:rPr lang="en-US" b="1" dirty="0">
                <a:latin typeface="+mn-lt"/>
              </a:rPr>
              <a:t>distance metric</a:t>
            </a:r>
            <a:endParaRPr lang="en-US" sz="2800" b="1" dirty="0">
              <a:latin typeface="+mn-lt"/>
            </a:endParaRPr>
          </a:p>
          <a:p>
            <a:r>
              <a:rPr lang="en-US" sz="2800" dirty="0">
                <a:latin typeface="+mn-lt"/>
              </a:rPr>
              <a:t>Multiple variables with </a:t>
            </a:r>
            <a:r>
              <a:rPr lang="en-US" dirty="0">
                <a:latin typeface="+mn-lt"/>
              </a:rPr>
              <a:t>multiple observations or measurements</a:t>
            </a:r>
          </a:p>
          <a:p>
            <a:pPr lvl="1"/>
            <a:r>
              <a:rPr lang="en-US" sz="2800" dirty="0">
                <a:latin typeface="+mn-lt"/>
              </a:rPr>
              <a:t>Distance measures are inherently </a:t>
            </a:r>
            <a:r>
              <a:rPr lang="en-US" sz="2800" b="1" dirty="0">
                <a:latin typeface="+mn-lt"/>
              </a:rPr>
              <a:t>multivariate</a:t>
            </a:r>
            <a:r>
              <a:rPr lang="en-US" sz="2800" dirty="0">
                <a:latin typeface="+mn-lt"/>
              </a:rPr>
              <a:t>    </a:t>
            </a:r>
          </a:p>
          <a:p>
            <a:pPr lvl="1"/>
            <a:r>
              <a:rPr lang="en-US" sz="2800" dirty="0">
                <a:latin typeface="+mn-lt"/>
              </a:rPr>
              <a:t>Distance is a </a:t>
            </a:r>
            <a:r>
              <a:rPr lang="en-US" sz="2800" b="1" dirty="0">
                <a:latin typeface="+mn-lt"/>
              </a:rPr>
              <a:t>scalar</a:t>
            </a:r>
          </a:p>
          <a:p>
            <a:r>
              <a:rPr lang="en-US" dirty="0">
                <a:latin typeface="+mn-lt"/>
              </a:rPr>
              <a:t>Distance metrics can be computed for three types of variables</a:t>
            </a:r>
          </a:p>
          <a:p>
            <a:pPr lvl="1"/>
            <a:r>
              <a:rPr lang="en-US" sz="2800" dirty="0">
                <a:latin typeface="+mn-lt"/>
              </a:rPr>
              <a:t>Numeric distance for numeric variables</a:t>
            </a:r>
          </a:p>
          <a:p>
            <a:pPr lvl="1"/>
            <a:r>
              <a:rPr lang="en-US" sz="2800" dirty="0">
                <a:latin typeface="+mn-lt"/>
              </a:rPr>
              <a:t>Rank difference or binary distance for ordinal variables</a:t>
            </a:r>
          </a:p>
          <a:p>
            <a:pPr lvl="1"/>
            <a:r>
              <a:rPr lang="en-US" sz="2800" dirty="0">
                <a:latin typeface="+mn-lt"/>
              </a:rPr>
              <a:t>Coded difference, usually binary, for unordered categorical variables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65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Axioms of distance metrics </a:t>
                </a:r>
                <a:r>
                  <a:rPr lang="en-US" dirty="0">
                    <a:latin typeface="+mn-lt"/>
                  </a:rPr>
                  <a:t>are required properties of any measure between two points in a 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Distances are nonnegative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</a:endParaRPr>
              </a:p>
              <a:p>
                <a:r>
                  <a:rPr lang="en-US" sz="2800" b="0" dirty="0">
                    <a:latin typeface="+mn-lt"/>
                    <a:ea typeface="Cambria Math" panose="02040503050406030204" pitchFamily="18" charset="0"/>
                  </a:rPr>
                  <a:t>Distances are positive except for the distance between a point and itself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Distances are symmetric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</a:endParaRPr>
              </a:p>
              <a:p>
                <a:r>
                  <a:rPr lang="en-US" sz="2800" b="0" dirty="0">
                    <a:latin typeface="+mn-lt"/>
                    <a:ea typeface="Cambria Math" panose="02040503050406030204" pitchFamily="18" charset="0"/>
                  </a:rPr>
                  <a:t>Distances must follow the triangle inequality (no shortcuts!)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𝑓𝑜𝑟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∀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𝑝𝑜𝑖𝑛𝑡𝑠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endParaRPr lang="en-US" sz="2800" dirty="0">
                  <a:latin typeface="+mn-lt"/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1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0292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dissimilarity can be computed for </a:t>
                </a:r>
                <a:r>
                  <a:rPr lang="en-US" b="1" dirty="0">
                    <a:latin typeface="+mn-lt"/>
                  </a:rPr>
                  <a:t>numeric and ordinal variables </a:t>
                </a:r>
                <a:r>
                  <a:rPr lang="en-US" dirty="0">
                    <a:latin typeface="+mn-lt"/>
                  </a:rPr>
                  <a:t>in p dimensions</a:t>
                </a:r>
              </a:p>
              <a:p>
                <a:r>
                  <a:rPr lang="en-US" b="1" dirty="0">
                    <a:latin typeface="+mn-lt"/>
                  </a:rPr>
                  <a:t>Weighted sum of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squared distance </a:t>
                </a:r>
                <a:r>
                  <a:rPr lang="en-US" dirty="0">
                    <a:latin typeface="+mn-lt"/>
                  </a:rPr>
                  <a:t>(square of </a:t>
                </a:r>
                <a:r>
                  <a:rPr lang="en-US" b="1" dirty="0">
                    <a:latin typeface="+mn-lt"/>
                  </a:rPr>
                  <a:t>Euclidian distance, L2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1/2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Weighted absolute distance</a:t>
                </a:r>
                <a:r>
                  <a:rPr lang="en-US" dirty="0">
                    <a:latin typeface="+mn-lt"/>
                  </a:rPr>
                  <a:t> or </a:t>
                </a:r>
                <a:r>
                  <a:rPr lang="en-US" b="1" dirty="0">
                    <a:latin typeface="+mn-lt"/>
                  </a:rPr>
                  <a:t>Manhattan distance (L1)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|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Weighted Max</a:t>
                </a:r>
                <a:r>
                  <a:rPr lang="en-US" dirty="0">
                    <a:latin typeface="+mn-lt"/>
                  </a:rPr>
                  <a:t>;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24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FF18B08-693D-4580-BC14-651EAF2C9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06990-C4F5-C5F4-414F-23F93022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ECEB9-946E-D155-ABF0-E864171D9AF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dissimilarity can be computed for </a:t>
                </a:r>
                <a:r>
                  <a:rPr lang="en-US" b="1" dirty="0">
                    <a:latin typeface="+mn-lt"/>
                  </a:rPr>
                  <a:t>numeric, ordinal and categorical variables </a:t>
                </a:r>
                <a:r>
                  <a:rPr lang="en-US" dirty="0">
                    <a:latin typeface="+mn-lt"/>
                  </a:rPr>
                  <a:t>in p dimensions</a:t>
                </a:r>
              </a:p>
              <a:p>
                <a:r>
                  <a:rPr lang="en-US" b="1" dirty="0">
                    <a:latin typeface="+mn-lt"/>
                  </a:rPr>
                  <a:t>Cosine distance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Hamming Distance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Jaccard distance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𝑆𝑖𝑧𝑒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𝐼𝑛𝑡𝑒𝑟𝑠𝑒𝑐𝑡𝑖𝑜𝑛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𝑆𝑖𝑧𝑒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𝑈𝑛𝑖𝑜𝑛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∪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Pearson (correlation) distance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1 −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ECEB9-946E-D155-ABF0-E864171D9A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0365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E35511C-A2C6-B106-F8F6-13A940F1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FA0F-8369-971B-F3DF-0AA4801D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2EC88-92EC-5BAC-6D01-8BDCC110E9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 so many choices, how can we pick a distance metric for clustering? </a:t>
            </a:r>
          </a:p>
          <a:p>
            <a:r>
              <a:rPr lang="en-US" dirty="0">
                <a:latin typeface="+mn-lt"/>
                <a:ea typeface="Cambria Math" panose="02040503050406030204" pitchFamily="18" charset="0"/>
              </a:rPr>
              <a:t>Carefully consider the problem and the variable types in the data</a:t>
            </a:r>
          </a:p>
          <a:p>
            <a:pPr lvl="1"/>
            <a:r>
              <a:rPr lang="en-US" dirty="0">
                <a:latin typeface="+mn-lt"/>
                <a:ea typeface="Cambria Math" panose="02040503050406030204" pitchFamily="18" charset="0"/>
              </a:rPr>
              <a:t>Example, Euclidean distance optimal for Normally distributed numeric variables </a:t>
            </a:r>
          </a:p>
          <a:p>
            <a:pPr lvl="1"/>
            <a:r>
              <a:rPr lang="en-US" dirty="0">
                <a:latin typeface="+mn-lt"/>
                <a:ea typeface="Cambria Math" panose="02040503050406030204" pitchFamily="18" charset="0"/>
              </a:rPr>
              <a:t>Example, ordinal variables often best with rank difference, cosine, and </a:t>
            </a:r>
            <a:r>
              <a:rPr lang="en-US" dirty="0" err="1">
                <a:latin typeface="+mn-lt"/>
                <a:ea typeface="Cambria Math" panose="02040503050406030204" pitchFamily="18" charset="0"/>
              </a:rPr>
              <a:t>Jacard</a:t>
            </a:r>
            <a:r>
              <a:rPr lang="en-US" dirty="0">
                <a:latin typeface="+mn-lt"/>
                <a:ea typeface="Cambria Math" panose="02040503050406030204" pitchFamily="18" charset="0"/>
              </a:rPr>
              <a:t>  </a:t>
            </a:r>
          </a:p>
          <a:p>
            <a:pPr lvl="1"/>
            <a:r>
              <a:rPr lang="en-US" dirty="0">
                <a:latin typeface="+mn-lt"/>
                <a:ea typeface="Cambria Math" panose="02040503050406030204" pitchFamily="18" charset="0"/>
              </a:rPr>
              <a:t>Example, binary variables can use Hamming distance or Pearson distance</a:t>
            </a:r>
          </a:p>
          <a:p>
            <a:pPr lvl="1"/>
            <a:r>
              <a:rPr lang="en-US" dirty="0">
                <a:latin typeface="+mn-lt"/>
                <a:ea typeface="Cambria Math" panose="02040503050406030204" pitchFamily="18" charset="0"/>
              </a:rPr>
              <a:t>Example, categorical variables can use Hamming, cosine and Pearson </a:t>
            </a:r>
          </a:p>
          <a:p>
            <a:r>
              <a:rPr lang="en-US" dirty="0">
                <a:latin typeface="+mn-lt"/>
                <a:ea typeface="Cambria Math" panose="02040503050406030204" pitchFamily="18" charset="0"/>
              </a:rPr>
              <a:t>Ultimately this </a:t>
            </a:r>
            <a:r>
              <a:rPr lang="en-US" b="1" dirty="0">
                <a:latin typeface="+mn-lt"/>
                <a:ea typeface="Cambria Math" panose="02040503050406030204" pitchFamily="18" charset="0"/>
              </a:rPr>
              <a:t>question can only be resolved </a:t>
            </a:r>
            <a:r>
              <a:rPr lang="en-US" b="1" dirty="0" err="1">
                <a:latin typeface="+mn-lt"/>
                <a:ea typeface="Cambria Math" panose="02040503050406030204" pitchFamily="18" charset="0"/>
              </a:rPr>
              <a:t>emperically</a:t>
            </a:r>
            <a:r>
              <a:rPr lang="en-US" dirty="0">
                <a:latin typeface="+mn-lt"/>
                <a:ea typeface="Cambria Math" panose="02040503050406030204" pitchFamily="18" charset="0"/>
              </a:rPr>
              <a:t>, one needs to try many distance metrics and use the ones that give reasonable results </a:t>
            </a:r>
          </a:p>
          <a:p>
            <a:pPr lvl="1"/>
            <a:r>
              <a:rPr lang="en-US" dirty="0">
                <a:latin typeface="+mn-lt"/>
                <a:ea typeface="Cambria Math" panose="02040503050406030204" pitchFamily="18" charset="0"/>
              </a:rPr>
              <a:t>For real-world mixed variable type problems considerable exploration may be required  </a:t>
            </a:r>
          </a:p>
          <a:p>
            <a:r>
              <a:rPr lang="en-US" dirty="0">
                <a:latin typeface="+mn-lt"/>
                <a:ea typeface="Cambria Math" panose="02040503050406030204" pitchFamily="18" charset="0"/>
              </a:rPr>
              <a:t>Analytics packages like </a:t>
            </a:r>
            <a:r>
              <a:rPr lang="en-US" dirty="0">
                <a:latin typeface="+mn-lt"/>
                <a:ea typeface="Cambria Math" panose="02040503050406030204" pitchFamily="18" charset="0"/>
                <a:hlinkClick r:id="rId3"/>
              </a:rPr>
              <a:t>Scikit-Learn Metrics </a:t>
            </a:r>
            <a:r>
              <a:rPr lang="en-US" dirty="0">
                <a:latin typeface="+mn-lt"/>
                <a:ea typeface="Cambria Math" panose="02040503050406030204" pitchFamily="18" charset="0"/>
              </a:rPr>
              <a:t>support a large number of distance metrics</a:t>
            </a:r>
            <a:endParaRPr lang="en-US" sz="2800" b="0" dirty="0">
              <a:latin typeface="+mn-lt"/>
              <a:ea typeface="Cambria Math" panose="02040503050406030204" pitchFamily="18" charset="0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97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Most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Search will not work.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595941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0755" y="301798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75859" y="3654450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97944" y="253354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687394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Euclidean space 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to make assignments for each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 and 4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complexity is about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005" t="-1604" r="-476" b="-1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coefficients – Does not depend on Euclidian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</a:p>
          <a:p>
            <a:r>
              <a:rPr lang="en-US" dirty="0">
                <a:latin typeface="+mn-lt"/>
              </a:rPr>
              <a:t>Notice that all of these methods assume clusters are Normally distributed in a Euclidean space!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silhouette coefficient?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Silhouette coefficients 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larger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coefficient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80"/>
            <a:ext cx="11106203" cy="11660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Example: pick k=5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4B29B9-E501-F26C-3653-E207ACA96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82" y="1356760"/>
            <a:ext cx="5762844" cy="5435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r>
              <a:rPr lang="en-US" dirty="0">
                <a:latin typeface="+mn-lt"/>
              </a:rPr>
              <a:t>We will explore manifold learning further in a subsequent lesson</a:t>
            </a:r>
          </a:p>
          <a:p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clusters?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Number of clusters determined by depth of cut point</a:t>
            </a:r>
          </a:p>
          <a:p>
            <a:r>
              <a:rPr lang="en-US" dirty="0">
                <a:latin typeface="+mn-lt"/>
              </a:rPr>
              <a:t>For example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agglomeration criteria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  <a:endParaRPr lang="en-US" dirty="0">
                  <a:solidFill>
                    <a:srgbClr val="FF0000"/>
                  </a:solidFill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12 or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Dissimilarity metrics usually matter more 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often subjective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16" y="0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2884984"/>
                  </p:ext>
                </p:extLst>
              </p:nvPr>
            </p:nvGraphicFramePr>
            <p:xfrm>
              <a:off x="386640" y="566515"/>
              <a:ext cx="11630025" cy="612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_+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Mini-batch high,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3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func>
                                <m:func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Affinity clustering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Responsible point in cluster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Less scalable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medium, O(n</a:t>
                          </a:r>
                          <a:r>
                            <a:rPr lang="en-US" sz="2000" baseline="300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)), memory </a:t>
                          </a:r>
                          <a:r>
                            <a:rPr lang="en-US" sz="2000" i="1">
                              <a:latin typeface="+mn-lt"/>
                            </a:rPr>
                            <a:t>O(n</a:t>
                          </a:r>
                          <a:r>
                            <a:rPr lang="en-US" sz="2000" i="1" baseline="30000">
                              <a:latin typeface="+mn-lt"/>
                            </a:rPr>
                            <a:t>2</a:t>
                          </a:r>
                          <a:r>
                            <a:rPr lang="en-US" sz="2000" i="1">
                              <a:latin typeface="+mn-lt"/>
                            </a:rPr>
                            <a:t>) 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out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log(n)) to O(n),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-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2884984"/>
                  </p:ext>
                </p:extLst>
              </p:nvPr>
            </p:nvGraphicFramePr>
            <p:xfrm>
              <a:off x="386640" y="566515"/>
              <a:ext cx="11630025" cy="612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72727" r="-868" b="-4509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2505" t="-247826" r="-97077" b="-546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247826" r="-868" b="-546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Affinity clustering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Responsible point in cluster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Less scalable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medium, O(n</a:t>
                          </a:r>
                          <a:r>
                            <a:rPr lang="en-US" sz="2000" baseline="300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)), memory </a:t>
                          </a:r>
                          <a:r>
                            <a:rPr lang="en-US" sz="2000" i="1">
                              <a:latin typeface="+mn-lt"/>
                            </a:rPr>
                            <a:t>O(n</a:t>
                          </a:r>
                          <a:r>
                            <a:rPr lang="en-US" sz="2000" i="1" baseline="30000">
                              <a:latin typeface="+mn-lt"/>
                            </a:rPr>
                            <a:t>2</a:t>
                          </a:r>
                          <a:r>
                            <a:rPr lang="en-US" sz="2000" i="1">
                              <a:latin typeface="+mn-lt"/>
                            </a:rPr>
                            <a:t>) 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out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log(n)) to O(n),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-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4464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30938</TotalTime>
  <Words>4162</Words>
  <Application>Microsoft Office PowerPoint</Application>
  <PresentationFormat>Widescreen</PresentationFormat>
  <Paragraphs>678</Paragraphs>
  <Slides>71</Slides>
  <Notes>61</Notes>
  <HiddenSlides>7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Distance and Similarity Measures for Cluster Models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966</cp:revision>
  <dcterms:created xsi:type="dcterms:W3CDTF">2020-07-25T22:15:22Z</dcterms:created>
  <dcterms:modified xsi:type="dcterms:W3CDTF">2025-11-10T04:02:40Z</dcterms:modified>
</cp:coreProperties>
</file>